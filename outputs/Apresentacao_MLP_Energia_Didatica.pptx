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Abra pela pergunta, não pelo algoritmo. Explique que o trabalho usa medições reais de uma casa para antecipar o próximo intervalo de consumo. Diga que se trata de uma reprodução adaptada: preservamos o problema e o dataset do artigo, mas aplicamos a técnica MLP exigida no Grupo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Defina regressão com simplicidade: não estamos escolhendo uma classe, como ligado ou desligado; estamos estimando uma quantidade. Cada previsão responde quanto será consumido em Wh no próximo registro. Mostre que a análise conecta ambiente, hábitos e histórico recente.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Evite prometer que o modelo gera economia automaticamente. A previsão é uma ferramenta de decisão. Use o exemplo de uma máquina de lavar ou aquecimento que pode ser deslocado para um horário de menor demanda.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Seja preciso: o artigo original comparou modelos como regressão linear, SVR, random forest e gradient boosting. Nossa proposta não é uma réplica literal dos números; é uma reprodução adaptada do problema para a técnica MLP. Essa transparência fortalece 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que cada linha é um instante, não uma residência diferente. As 29 colunas originais incluem data, alvo, iluminação, sensores internos, clima e duas variáveis aleatórias. Reforce que os registros estão em ordem e cobrem uma única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linha do tempo. Temporal significa dependência e ordem. Multivariada significa que temos várias séries sincronizadas: consumo, temperatura, umidade e clima. Diga que uma divisão aleatória pode colocar maio no treino e fevereiro no teste, criando uma avaliação pouco realista.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MLP é feedforward e não guarda memória como uma LSTM. Por isso construímos colunas que representam o passado. Explique defasagem com um exemplo: lag de 6 registros equivale a uma hora. Variáveis cíclicas evitam tratar 23h e 0h como horários distantes.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Apresente a rede da esquerda para a direita. Cada entrada é uma variável padronizada. Cada neurônio multiplica entradas por pesos, soma um viés e aplica ReLU. As camadas ocultas aprendem combinações não lineares. A saída possui um neurônio porque queremos um único número. Backpropagation calcula como cada peso contribuiu para o erro; Adam atualiza esses pesos.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os papéis separadamente. O teste não participa da escolha do modelo. A padronização usa média e desvio do treino e apenas aplica esses valores aos demais conjuntos. Isso evita vazamento. A ordem cronológica deixa o trecho mais recente como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Mostre que otimização não significa testar infinitas opções. Foram três arquiteturas e três sementes, totalizando nove rodadas. Early stopping interrompe após dez épocas sem melhoria e recupera o melhor estado. A configuração vencedora foi escolhida pelo RMSE de validação, nunca pelo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linha de treino mostra a função de perda interna; a linha de validação está em Wh e orienta a escolha. O ganho é rápido nas primeiras épocas e depois diminui. A melhor época foi 28 para a configuração selecionada. Não confunda menor loss de treino com melhor generalização.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Explique cada métrica: MAE é o erro absoluto típico; RMSE penaliza erros grandes; R² mede a variabilidade explicada. Menor MAE e RMSE são melhores; maior R² é melhor. A persistência prevê que o próximo consumo será igual ao atual. Ela venceu a MLP, um resultado negativo importante e não uma falha a esconder.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MLP acompanha tendências, mas frequentemente suaviza picos. O RMSE sente bastante esses erros grandes. Também há indícios de mudança de distribuição ao longo do tempo: a casa mais recente não se comporta exatamente como no treino. Destaque que uma baseline forte é indispensável para saber se a complexidade vale a pena.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Feche retomando a pergunta inicial. A MLP funciona como ferramenta de modelagem, mas não venceu a persistência neste cenário. Isso mostra maturidade experimental: escolher protocolo correto, incluir baseline e interpretar limitações. Sugira horizontes mais longos, validação walk-forward e comparação com LSTM, random forest e gradient boosting.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ccent">
            <a:extLst>
              <a:ext uri="{FF2B5EF4-FFF2-40B4-BE49-F238E27FC236}">
                <a16:creationId xmlns:a16="http://schemas.microsoft.com/office/drawing/2014/main" id="{88D0654C-6996-4339-9B72-380A5466E5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A2D432CD-02EA-4A64-8981-C7028C903EDB}"/>
              </a:ext>
            </a:extLst>
          </p:cNvPr>
          <p:cNvSpPr>
            <a:spLocks noGrp="1"/>
          </p:cNvSpPr>
          <p:nvPr/>
        </p:nvSpPr>
        <p:spPr>
          <a:xfrm>
            <a:off x="723900" y="70485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45B8C4"/>
                </a:solidFill>
              </a:defRPr>
            </a:pPr>
            <a:r>
              <a:rPr sz="1200" b="1">
                <a:solidFill>
                  <a:srgbClr val="45B8C4"/>
                </a:solidFill>
              </a:rPr>
              <a:t>SÉRIES TEMPORAIS MULTIVARIADAS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9C3A2267-6C1E-4447-BBAD-8AC152C33488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82867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Predição do consumo de energia com MLP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A2FDB6C3-A70D-446A-AEB5-9F701DCB4D9E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8096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D7EAF0"/>
                </a:solidFill>
              </a:defRPr>
            </a:pPr>
            <a:r>
              <a:rPr sz="1800" b="0">
                <a:solidFill>
                  <a:srgbClr val="D7EAF0"/>
                </a:solidFill>
              </a:rPr>
              <a:t>Reprodução adaptada de Candanedo, Feldheim e Deramaix (2017)</a:t>
            </a:r>
          </a:p>
        </p:txBody>
      </p:sp>
      <p:sp>
        <p:nvSpPr>
          <p:cNvPr id="5" name="question">
            <a:extLst>
              <a:ext uri="{FF2B5EF4-FFF2-40B4-BE49-F238E27FC236}">
                <a16:creationId xmlns:a16="http://schemas.microsoft.com/office/drawing/2014/main" id="{D3892FCE-52B1-4033-8686-25114AED665C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8191500" cy="1066800"/>
          </a:xfrm>
          <a:prstGeom prst="roundRect">
            <a:avLst>
              <a:gd name="adj" fmla="val 10714"/>
            </a:avLst>
          </a:prstGeom>
          <a:solidFill>
            <a:srgbClr val="1D425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question-text">
            <a:extLst>
              <a:ext uri="{FF2B5EF4-FFF2-40B4-BE49-F238E27FC236}">
                <a16:creationId xmlns:a16="http://schemas.microsoft.com/office/drawing/2014/main" id="{887F7551-9DED-4245-B294-BFA566A379AA}"/>
              </a:ext>
            </a:extLst>
          </p:cNvPr>
          <p:cNvSpPr>
            <a:spLocks noGrp="1"/>
          </p:cNvSpPr>
          <p:nvPr/>
        </p:nvSpPr>
        <p:spPr>
          <a:xfrm>
            <a:off x="1066800" y="4343400"/>
            <a:ext cx="7524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Pergunta central: quanto a residência consumirá nos próximos 10 minutos?</a:t>
            </a:r>
          </a:p>
        </p:txBody>
      </p:sp>
      <p:sp>
        <p:nvSpPr>
          <p:cNvPr id="7" name="meta">
            <a:extLst>
              <a:ext uri="{FF2B5EF4-FFF2-40B4-BE49-F238E27FC236}">
                <a16:creationId xmlns:a16="http://schemas.microsoft.com/office/drawing/2014/main" id="{36DB9900-0318-48F2-A1C9-EBBA173A1B84}"/>
              </a:ext>
            </a:extLst>
          </p:cNvPr>
          <p:cNvSpPr>
            <a:spLocks noGrp="1"/>
          </p:cNvSpPr>
          <p:nvPr/>
        </p:nvSpPr>
        <p:spPr>
          <a:xfrm>
            <a:off x="742950" y="5962650"/>
            <a:ext cx="704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AFC9D5"/>
                </a:solidFill>
              </a:defRPr>
            </a:pPr>
            <a:r>
              <a:rPr sz="1275" b="0">
                <a:solidFill>
                  <a:srgbClr val="AFC9D5"/>
                </a:solidFill>
              </a:rPr>
              <a:t>Machine Learning • Ciência de Dados • Grupo B</a:t>
            </a:r>
          </a:p>
        </p:txBody>
      </p:sp>
      <p:sp>
        <p:nvSpPr>
          <p:cNvPr id="8" name="page">
            <a:extLst>
              <a:ext uri="{FF2B5EF4-FFF2-40B4-BE49-F238E27FC236}">
                <a16:creationId xmlns:a16="http://schemas.microsoft.com/office/drawing/2014/main" id="{F21E6AE6-2C4D-4F5E-91B9-C6D97500691F}"/>
              </a:ext>
            </a:extLst>
          </p:cNvPr>
          <p:cNvSpPr>
            <a:spLocks noGrp="1"/>
          </p:cNvSpPr>
          <p:nvPr/>
        </p:nvSpPr>
        <p:spPr>
          <a:xfrm>
            <a:off x="10972800" y="6210300"/>
            <a:ext cx="609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45B8C4"/>
                </a:solidFill>
              </a:defRPr>
            </a:pPr>
            <a:r>
              <a:rPr sz="1050" b="1">
                <a:solidFill>
                  <a:srgbClr val="45B8C4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6564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op-accent">
            <a:extLst>
              <a:ext uri="{FF2B5EF4-FFF2-40B4-BE49-F238E27FC236}">
                <a16:creationId xmlns:a16="http://schemas.microsoft.com/office/drawing/2014/main" id="{314CBE0B-D82D-43A4-8A8A-DD9ECB64A8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D93F85A2-B6B2-4C29-8DEF-1D47072DFA1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VISÃO GERAL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CB0427E4-8644-48FE-930A-4DB4843FAAE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Do que trata este trabalho?</a:t>
            </a:r>
          </a:p>
        </p:txBody>
      </p:sp>
      <p:sp>
        <p:nvSpPr>
          <p:cNvPr id="4" name="statement">
            <a:extLst>
              <a:ext uri="{FF2B5EF4-FFF2-40B4-BE49-F238E27FC236}">
                <a16:creationId xmlns:a16="http://schemas.microsoft.com/office/drawing/2014/main" id="{95A1954D-1095-4382-91C0-3E9456D31DF1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972800" cy="895350"/>
          </a:xfrm>
          <a:prstGeom prst="roundRect">
            <a:avLst>
              <a:gd name="adj" fmla="val 12766"/>
            </a:avLst>
          </a:prstGeom>
          <a:solidFill>
            <a:srgbClr val="12304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tatement-text">
            <a:extLst>
              <a:ext uri="{FF2B5EF4-FFF2-40B4-BE49-F238E27FC236}">
                <a16:creationId xmlns:a16="http://schemas.microsoft.com/office/drawing/2014/main" id="{DD2A7EA2-0C4D-4A08-BB85-957593F73CC2}"/>
              </a:ext>
            </a:extLst>
          </p:cNvPr>
          <p:cNvSpPr>
            <a:spLocks noGrp="1"/>
          </p:cNvSpPr>
          <p:nvPr/>
        </p:nvSpPr>
        <p:spPr>
          <a:xfrm>
            <a:off x="914400" y="1581150"/>
            <a:ext cx="10363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Transformar o histórico de sensores em uma previsão numérica do consumo futuro.</a:t>
            </a:r>
          </a:p>
        </p:txBody>
      </p:sp>
      <p:sp>
        <p:nvSpPr>
          <p:cNvPr id="6" name="bullet-0">
            <a:extLst>
              <a:ext uri="{FF2B5EF4-FFF2-40B4-BE49-F238E27FC236}">
                <a16:creationId xmlns:a16="http://schemas.microsoft.com/office/drawing/2014/main" id="{027B10E5-6DD5-4779-B3FA-68638430DBEF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bullet-text-0">
            <a:extLst>
              <a:ext uri="{FF2B5EF4-FFF2-40B4-BE49-F238E27FC236}">
                <a16:creationId xmlns:a16="http://schemas.microsoft.com/office/drawing/2014/main" id="{EE30C82D-27A1-40B2-9F8F-12B266CB8012}"/>
              </a:ext>
            </a:extLst>
          </p:cNvPr>
          <p:cNvSpPr>
            <a:spLocks noGrp="1"/>
          </p:cNvSpPr>
          <p:nvPr/>
        </p:nvSpPr>
        <p:spPr>
          <a:xfrm>
            <a:off x="1238250" y="2628900"/>
            <a:ext cx="973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15222D"/>
                </a:solidFill>
              </a:defRPr>
            </a:pPr>
            <a:r>
              <a:rPr sz="1725" b="0">
                <a:solidFill>
                  <a:srgbClr val="15222D"/>
                </a:solidFill>
              </a:rPr>
              <a:t>Problema: regressão — prever uma quantidade contínua em Wh</a:t>
            </a:r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E54644A0-B8D6-4911-BC23-43323E83554B}"/>
              </a:ext>
            </a:extLst>
          </p:cNvPr>
          <p:cNvSpPr>
            <a:spLocks noGrp="1"/>
          </p:cNvSpPr>
          <p:nvPr/>
        </p:nvSpPr>
        <p:spPr>
          <a:xfrm>
            <a:off x="971550" y="3409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bullet-text-1">
            <a:extLst>
              <a:ext uri="{FF2B5EF4-FFF2-40B4-BE49-F238E27FC236}">
                <a16:creationId xmlns:a16="http://schemas.microsoft.com/office/drawing/2014/main" id="{91100E65-CC02-40D6-99B6-4711E854534C}"/>
              </a:ext>
            </a:extLst>
          </p:cNvPr>
          <p:cNvSpPr>
            <a:spLocks noGrp="1"/>
          </p:cNvSpPr>
          <p:nvPr/>
        </p:nvSpPr>
        <p:spPr>
          <a:xfrm>
            <a:off x="1238250" y="3314700"/>
            <a:ext cx="973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15222D"/>
                </a:solidFill>
              </a:defRPr>
            </a:pPr>
            <a:r>
              <a:rPr sz="1725" b="0">
                <a:solidFill>
                  <a:srgbClr val="15222D"/>
                </a:solidFill>
              </a:rPr>
              <a:t>Horizonte: um passo à frente, equivalente a 10 minutos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8F89D4DB-3562-4FC8-8CF6-C26A741CD511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bullet-text-2">
            <a:extLst>
              <a:ext uri="{FF2B5EF4-FFF2-40B4-BE49-F238E27FC236}">
                <a16:creationId xmlns:a16="http://schemas.microsoft.com/office/drawing/2014/main" id="{7F65D29F-3A71-4BCE-86C2-8511C1F2F2D5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973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15222D"/>
                </a:solidFill>
              </a:defRPr>
            </a:pPr>
            <a:r>
              <a:rPr sz="1725" b="0">
                <a:solidFill>
                  <a:srgbClr val="15222D"/>
                </a:solidFill>
              </a:rPr>
              <a:t>Entradas: consumo recente, temperatura, umidade, iluminação e clima</a:t>
            </a:r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A8BF9A48-0E47-4F2A-973D-03316961D4F8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bullet-text-3">
            <a:extLst>
              <a:ext uri="{FF2B5EF4-FFF2-40B4-BE49-F238E27FC236}">
                <a16:creationId xmlns:a16="http://schemas.microsoft.com/office/drawing/2014/main" id="{4637F5A0-A08D-4773-BE94-944DBF77CD05}"/>
              </a:ext>
            </a:extLst>
          </p:cNvPr>
          <p:cNvSpPr>
            <a:spLocks noGrp="1"/>
          </p:cNvSpPr>
          <p:nvPr/>
        </p:nvSpPr>
        <p:spPr>
          <a:xfrm>
            <a:off x="1238250" y="4686300"/>
            <a:ext cx="9734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15222D"/>
                </a:solidFill>
              </a:defRPr>
            </a:pPr>
            <a:r>
              <a:rPr sz="1725" b="0">
                <a:solidFill>
                  <a:srgbClr val="15222D"/>
                </a:solidFill>
              </a:rPr>
              <a:t>Saída: um único valor previsto para Appliances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10C55C35-649B-41A8-9636-49C8DE2254F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15" name="page">
            <a:extLst>
              <a:ext uri="{FF2B5EF4-FFF2-40B4-BE49-F238E27FC236}">
                <a16:creationId xmlns:a16="http://schemas.microsoft.com/office/drawing/2014/main" id="{31083AB6-25CA-4D24-81BA-AFA6E825186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905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op-accent">
            <a:extLst>
              <a:ext uri="{FF2B5EF4-FFF2-40B4-BE49-F238E27FC236}">
                <a16:creationId xmlns:a16="http://schemas.microsoft.com/office/drawing/2014/main" id="{A1C13A54-B5BD-4FCA-8045-4053E397DA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E6247E20-7E07-4D53-A00C-F2778D28120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PROBLEMA APLICADO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969682-FD42-4FDB-B4A0-06B53B112E6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Por que prever consumo de energia?</a:t>
            </a:r>
          </a:p>
        </p:txBody>
      </p:sp>
      <p:sp>
        <p:nvSpPr>
          <p:cNvPr id="4" name="PLANEJAR-label">
            <a:extLst>
              <a:ext uri="{FF2B5EF4-FFF2-40B4-BE49-F238E27FC236}">
                <a16:creationId xmlns:a16="http://schemas.microsoft.com/office/drawing/2014/main" id="{EDE3FA6B-0900-4C14-AB20-E9047807F8D5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26575"/>
                </a:solidFill>
              </a:defRPr>
            </a:pPr>
            <a:r>
              <a:rPr sz="1200" b="1">
                <a:solidFill>
                  <a:srgbClr val="526575"/>
                </a:solidFill>
              </a:rPr>
              <a:t>PLANEJAR</a:t>
            </a:r>
          </a:p>
        </p:txBody>
      </p:sp>
      <p:sp>
        <p:nvSpPr>
          <p:cNvPr id="5" name="PLANEJAR-value">
            <a:extLst>
              <a:ext uri="{FF2B5EF4-FFF2-40B4-BE49-F238E27FC236}">
                <a16:creationId xmlns:a16="http://schemas.microsoft.com/office/drawing/2014/main" id="{F7CC26A9-71FB-466D-A936-88CEFD2B1D37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677A6"/>
                </a:solidFill>
              </a:defRPr>
            </a:pPr>
            <a:r>
              <a:rPr sz="2850" b="1">
                <a:solidFill>
                  <a:srgbClr val="1677A6"/>
                </a:solidFill>
              </a:rPr>
              <a:t>demanda</a:t>
            </a:r>
          </a:p>
        </p:txBody>
      </p:sp>
      <p:sp>
        <p:nvSpPr>
          <p:cNvPr id="6" name="ANTECIPAR-label">
            <a:extLst>
              <a:ext uri="{FF2B5EF4-FFF2-40B4-BE49-F238E27FC236}">
                <a16:creationId xmlns:a16="http://schemas.microsoft.com/office/drawing/2014/main" id="{2BD56317-2D7E-4178-A803-8AF66FA9D1BB}"/>
              </a:ext>
            </a:extLst>
          </p:cNvPr>
          <p:cNvSpPr>
            <a:spLocks noGrp="1"/>
          </p:cNvSpPr>
          <p:nvPr/>
        </p:nvSpPr>
        <p:spPr>
          <a:xfrm>
            <a:off x="3381375" y="1714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26575"/>
                </a:solidFill>
              </a:defRPr>
            </a:pPr>
            <a:r>
              <a:rPr sz="1200" b="1">
                <a:solidFill>
                  <a:srgbClr val="526575"/>
                </a:solidFill>
              </a:rPr>
              <a:t>ANTECIPAR</a:t>
            </a:r>
          </a:p>
        </p:txBody>
      </p:sp>
      <p:sp>
        <p:nvSpPr>
          <p:cNvPr id="7" name="ANTECIPAR-value">
            <a:extLst>
              <a:ext uri="{FF2B5EF4-FFF2-40B4-BE49-F238E27FC236}">
                <a16:creationId xmlns:a16="http://schemas.microsoft.com/office/drawing/2014/main" id="{7761F94D-F5AB-4F80-82E5-594D1811993D}"/>
              </a:ext>
            </a:extLst>
          </p:cNvPr>
          <p:cNvSpPr>
            <a:spLocks noGrp="1"/>
          </p:cNvSpPr>
          <p:nvPr/>
        </p:nvSpPr>
        <p:spPr>
          <a:xfrm>
            <a:off x="3381375" y="20002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D9534F"/>
                </a:solidFill>
              </a:defRPr>
            </a:pPr>
            <a:r>
              <a:rPr sz="2850" b="1">
                <a:solidFill>
                  <a:srgbClr val="D9534F"/>
                </a:solidFill>
              </a:rPr>
              <a:t>picos</a:t>
            </a:r>
          </a:p>
        </p:txBody>
      </p:sp>
      <p:sp>
        <p:nvSpPr>
          <p:cNvPr id="8" name="AUTOMATIZAR-label">
            <a:extLst>
              <a:ext uri="{FF2B5EF4-FFF2-40B4-BE49-F238E27FC236}">
                <a16:creationId xmlns:a16="http://schemas.microsoft.com/office/drawing/2014/main" id="{12DB72A1-3258-4FD2-8D53-2D7BACE47118}"/>
              </a:ext>
            </a:extLst>
          </p:cNvPr>
          <p:cNvSpPr>
            <a:spLocks noGrp="1"/>
          </p:cNvSpPr>
          <p:nvPr/>
        </p:nvSpPr>
        <p:spPr>
          <a:xfrm>
            <a:off x="6000750" y="1714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26575"/>
                </a:solidFill>
              </a:defRPr>
            </a:pPr>
            <a:r>
              <a:rPr sz="1200" b="1">
                <a:solidFill>
                  <a:srgbClr val="526575"/>
                </a:solidFill>
              </a:rPr>
              <a:t>AUTOMATIZAR</a:t>
            </a:r>
          </a:p>
        </p:txBody>
      </p:sp>
      <p:sp>
        <p:nvSpPr>
          <p:cNvPr id="9" name="AUTOMATIZAR-value">
            <a:extLst>
              <a:ext uri="{FF2B5EF4-FFF2-40B4-BE49-F238E27FC236}">
                <a16:creationId xmlns:a16="http://schemas.microsoft.com/office/drawing/2014/main" id="{10A50315-D06F-49FC-8E59-10068C8E5E2F}"/>
              </a:ext>
            </a:extLst>
          </p:cNvPr>
          <p:cNvSpPr>
            <a:spLocks noGrp="1"/>
          </p:cNvSpPr>
          <p:nvPr/>
        </p:nvSpPr>
        <p:spPr>
          <a:xfrm>
            <a:off x="6000750" y="20002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C8C7A"/>
                </a:solidFill>
              </a:defRPr>
            </a:pPr>
            <a:r>
              <a:rPr sz="2850" b="1">
                <a:solidFill>
                  <a:srgbClr val="1C8C7A"/>
                </a:solidFill>
              </a:rPr>
              <a:t>decisões</a:t>
            </a:r>
          </a:p>
        </p:txBody>
      </p:sp>
      <p:sp>
        <p:nvSpPr>
          <p:cNvPr id="10" name="ECONOMIZAR-label">
            <a:extLst>
              <a:ext uri="{FF2B5EF4-FFF2-40B4-BE49-F238E27FC236}">
                <a16:creationId xmlns:a16="http://schemas.microsoft.com/office/drawing/2014/main" id="{BC96CA53-CBE8-4368-8ECB-A8927326512A}"/>
              </a:ext>
            </a:extLst>
          </p:cNvPr>
          <p:cNvSpPr>
            <a:spLocks noGrp="1"/>
          </p:cNvSpPr>
          <p:nvPr/>
        </p:nvSpPr>
        <p:spPr>
          <a:xfrm>
            <a:off x="8620125" y="1714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26575"/>
                </a:solidFill>
              </a:defRPr>
            </a:pPr>
            <a:r>
              <a:rPr sz="1200" b="1">
                <a:solidFill>
                  <a:srgbClr val="526575"/>
                </a:solidFill>
              </a:rPr>
              <a:t>ECONOMIZAR</a:t>
            </a:r>
          </a:p>
        </p:txBody>
      </p:sp>
      <p:sp>
        <p:nvSpPr>
          <p:cNvPr id="11" name="ECONOMIZAR-value">
            <a:extLst>
              <a:ext uri="{FF2B5EF4-FFF2-40B4-BE49-F238E27FC236}">
                <a16:creationId xmlns:a16="http://schemas.microsoft.com/office/drawing/2014/main" id="{46E52427-8039-4312-85B2-71C15CEAAEC4}"/>
              </a:ext>
            </a:extLst>
          </p:cNvPr>
          <p:cNvSpPr>
            <a:spLocks noGrp="1"/>
          </p:cNvSpPr>
          <p:nvPr/>
        </p:nvSpPr>
        <p:spPr>
          <a:xfrm>
            <a:off x="8620125" y="200025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F2A93B"/>
                </a:solidFill>
              </a:defRPr>
            </a:pPr>
            <a:r>
              <a:rPr sz="2850" b="1">
                <a:solidFill>
                  <a:srgbClr val="F2A93B"/>
                </a:solidFill>
              </a:rPr>
              <a:t>recursos</a:t>
            </a:r>
          </a:p>
        </p:txBody>
      </p:sp>
      <p:sp>
        <p:nvSpPr>
          <p:cNvPr id="12" name="line">
            <a:extLst>
              <a:ext uri="{FF2B5EF4-FFF2-40B4-BE49-F238E27FC236}">
                <a16:creationId xmlns:a16="http://schemas.microsoft.com/office/drawing/2014/main" id="{26133188-E0DB-4B19-B811-F6B9DB1A72E0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10429875" cy="19050"/>
          </a:xfrm>
          <a:prstGeom prst="rect">
            <a:avLst/>
          </a:prstGeom>
          <a:solidFill>
            <a:srgbClr val="D7E0E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explain">
            <a:extLst>
              <a:ext uri="{FF2B5EF4-FFF2-40B4-BE49-F238E27FC236}">
                <a16:creationId xmlns:a16="http://schemas.microsoft.com/office/drawing/2014/main" id="{6A6015C4-89D8-403F-A4CF-956F4B2B2D39}"/>
              </a:ext>
            </a:extLst>
          </p:cNvPr>
          <p:cNvSpPr>
            <a:spLocks noGrp="1"/>
          </p:cNvSpPr>
          <p:nvPr/>
        </p:nvSpPr>
        <p:spPr>
          <a:xfrm>
            <a:off x="1123950" y="3371850"/>
            <a:ext cx="9620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23047"/>
                </a:solidFill>
              </a:defRPr>
            </a:pPr>
            <a:r>
              <a:rPr sz="2100" b="1">
                <a:solidFill>
                  <a:srgbClr val="123047"/>
                </a:solidFill>
              </a:rPr>
              <a:t>A previsão não economiza energia sozinha. Ela dá tempo para agir: deslocar cargas, emitir alertas ou ajustar sistemas antes que o consumo aconteça.</a:t>
            </a:r>
          </a:p>
        </p:txBody>
      </p:sp>
      <p:sp>
        <p:nvSpPr>
          <p:cNvPr id="14" name="example">
            <a:extLst>
              <a:ext uri="{FF2B5EF4-FFF2-40B4-BE49-F238E27FC236}">
                <a16:creationId xmlns:a16="http://schemas.microsoft.com/office/drawing/2014/main" id="{E8981866-45FC-4FB1-9915-31DA05BA11CD}"/>
              </a:ext>
            </a:extLst>
          </p:cNvPr>
          <p:cNvSpPr>
            <a:spLocks noGrp="1"/>
          </p:cNvSpPr>
          <p:nvPr/>
        </p:nvSpPr>
        <p:spPr>
          <a:xfrm>
            <a:off x="1695450" y="50101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0">
                <a:solidFill>
                  <a:srgbClr val="526575"/>
                </a:solidFill>
              </a:defRPr>
            </a:pPr>
            <a:r>
              <a:rPr sz="1575" b="0">
                <a:solidFill>
                  <a:srgbClr val="526575"/>
                </a:solidFill>
              </a:rPr>
              <a:t>Exemplo: se um pico é previsto, uma carga flexível pode ser programada para outro horário.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C071FFA9-07E1-4874-AC2F-E6A11E26077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16" name="page">
            <a:extLst>
              <a:ext uri="{FF2B5EF4-FFF2-40B4-BE49-F238E27FC236}">
                <a16:creationId xmlns:a16="http://schemas.microsoft.com/office/drawing/2014/main" id="{64334553-37CA-42A7-858E-B28B87C463E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9397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accent">
            <a:extLst>
              <a:ext uri="{FF2B5EF4-FFF2-40B4-BE49-F238E27FC236}">
                <a16:creationId xmlns:a16="http://schemas.microsoft.com/office/drawing/2014/main" id="{CC7A19FF-43CE-45AF-8B38-F58203BB9B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AEE67CEE-4145-407B-BCDE-0D6369D69A9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BASE CIENTÍFICA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44F9311-3DAA-4AB8-A7E1-D1855326E08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Artigo e dataset de referência</a:t>
            </a:r>
          </a:p>
        </p:txBody>
      </p:sp>
      <p:sp>
        <p:nvSpPr>
          <p:cNvPr id="4" name="paper">
            <a:extLst>
              <a:ext uri="{FF2B5EF4-FFF2-40B4-BE49-F238E27FC236}">
                <a16:creationId xmlns:a16="http://schemas.microsoft.com/office/drawing/2014/main" id="{065DD218-0039-4321-AB8D-680F7CF03E5E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5524500" cy="409575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paper-title">
            <a:extLst>
              <a:ext uri="{FF2B5EF4-FFF2-40B4-BE49-F238E27FC236}">
                <a16:creationId xmlns:a16="http://schemas.microsoft.com/office/drawing/2014/main" id="{A107F509-27A9-486C-9A0C-5DAE1E0DEBD8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23047"/>
                </a:solidFill>
              </a:defRPr>
            </a:pPr>
            <a:r>
              <a:rPr sz="2025" b="1">
                <a:solidFill>
                  <a:srgbClr val="123047"/>
                </a:solidFill>
              </a:rPr>
              <a:t>Data driven prediction models of energy use of appliances in a low-energy house</a:t>
            </a:r>
          </a:p>
        </p:txBody>
      </p:sp>
      <p:sp>
        <p:nvSpPr>
          <p:cNvPr id="6" name="authors">
            <a:extLst>
              <a:ext uri="{FF2B5EF4-FFF2-40B4-BE49-F238E27FC236}">
                <a16:creationId xmlns:a16="http://schemas.microsoft.com/office/drawing/2014/main" id="{F41171A2-4AE6-4A0E-B3EC-6F579AF1E025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677A6"/>
                </a:solidFill>
              </a:defRPr>
            </a:pPr>
            <a:r>
              <a:rPr sz="1425" b="1">
                <a:solidFill>
                  <a:srgbClr val="1677A6"/>
                </a:solidFill>
              </a:rPr>
              <a:t>Candanedo, Feldheim &amp; Deramaix • 2017</a:t>
            </a:r>
          </a:p>
        </p:txBody>
      </p:sp>
      <p:sp>
        <p:nvSpPr>
          <p:cNvPr id="7" name="journal">
            <a:extLst>
              <a:ext uri="{FF2B5EF4-FFF2-40B4-BE49-F238E27FC236}">
                <a16:creationId xmlns:a16="http://schemas.microsoft.com/office/drawing/2014/main" id="{59515393-C285-44DB-8B86-8B819D8AC6ED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485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575"/>
                </a:solidFill>
              </a:defRPr>
            </a:pPr>
            <a:r>
              <a:rPr sz="1350" b="0">
                <a:solidFill>
                  <a:srgbClr val="526575"/>
                </a:solidFill>
              </a:rPr>
              <a:t>Energy and Buildings, v. 140, p. 81–97</a:t>
            </a:r>
          </a:p>
        </p:txBody>
      </p:sp>
      <p:sp>
        <p:nvSpPr>
          <p:cNvPr id="8" name="doi">
            <a:extLst>
              <a:ext uri="{FF2B5EF4-FFF2-40B4-BE49-F238E27FC236}">
                <a16:creationId xmlns:a16="http://schemas.microsoft.com/office/drawing/2014/main" id="{B2C4AFD3-43EC-4649-849A-13E2742996DF}"/>
              </a:ext>
            </a:extLst>
          </p:cNvPr>
          <p:cNvSpPr>
            <a:spLocks noGrp="1"/>
          </p:cNvSpPr>
          <p:nvPr/>
        </p:nvSpPr>
        <p:spPr>
          <a:xfrm>
            <a:off x="914400" y="38481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26575"/>
                </a:solidFill>
              </a:defRPr>
            </a:pPr>
            <a:r>
              <a:rPr sz="1200" b="0">
                <a:solidFill>
                  <a:srgbClr val="526575"/>
                </a:solidFill>
              </a:rPr>
              <a:t>DOI 10.1016/j.enbuild.2017.01.083</a:t>
            </a:r>
          </a:p>
        </p:txBody>
      </p:sp>
      <p:sp>
        <p:nvSpPr>
          <p:cNvPr id="9" name="adapt">
            <a:extLst>
              <a:ext uri="{FF2B5EF4-FFF2-40B4-BE49-F238E27FC236}">
                <a16:creationId xmlns:a16="http://schemas.microsoft.com/office/drawing/2014/main" id="{005FAB73-7C9C-4BB0-9B12-7473C3D80B7D}"/>
              </a:ext>
            </a:extLst>
          </p:cNvPr>
          <p:cNvSpPr>
            <a:spLocks noGrp="1"/>
          </p:cNvSpPr>
          <p:nvPr/>
        </p:nvSpPr>
        <p:spPr>
          <a:xfrm>
            <a:off x="6515100" y="1428750"/>
            <a:ext cx="5067300" cy="4095750"/>
          </a:xfrm>
          <a:prstGeom prst="roundRect">
            <a:avLst>
              <a:gd name="adj" fmla="val 2791"/>
            </a:avLst>
          </a:prstGeom>
          <a:solidFill>
            <a:srgbClr val="E8F4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adapt-title">
            <a:extLst>
              <a:ext uri="{FF2B5EF4-FFF2-40B4-BE49-F238E27FC236}">
                <a16:creationId xmlns:a16="http://schemas.microsoft.com/office/drawing/2014/main" id="{11BC6BD8-EA52-4FC3-9216-70C3DF217ABD}"/>
              </a:ext>
            </a:extLst>
          </p:cNvPr>
          <p:cNvSpPr>
            <a:spLocks noGrp="1"/>
          </p:cNvSpPr>
          <p:nvPr/>
        </p:nvSpPr>
        <p:spPr>
          <a:xfrm>
            <a:off x="6896100" y="1752600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C8C7A"/>
                </a:solidFill>
              </a:defRPr>
            </a:pPr>
            <a:r>
              <a:rPr sz="2025" b="1">
                <a:solidFill>
                  <a:srgbClr val="1C8C7A"/>
                </a:solidFill>
              </a:rPr>
              <a:t>O que reproduzimos?</a:t>
            </a:r>
          </a:p>
        </p:txBody>
      </p:sp>
      <p:sp>
        <p:nvSpPr>
          <p:cNvPr id="11" name="bullet-0">
            <a:extLst>
              <a:ext uri="{FF2B5EF4-FFF2-40B4-BE49-F238E27FC236}">
                <a16:creationId xmlns:a16="http://schemas.microsoft.com/office/drawing/2014/main" id="{DB7F1F69-F999-4BBF-85CA-5EB07B464B77}"/>
              </a:ext>
            </a:extLst>
          </p:cNvPr>
          <p:cNvSpPr>
            <a:spLocks noGrp="1"/>
          </p:cNvSpPr>
          <p:nvPr/>
        </p:nvSpPr>
        <p:spPr>
          <a:xfrm>
            <a:off x="6915150" y="2476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bullet-text-0">
            <a:extLst>
              <a:ext uri="{FF2B5EF4-FFF2-40B4-BE49-F238E27FC236}">
                <a16:creationId xmlns:a16="http://schemas.microsoft.com/office/drawing/2014/main" id="{821370B3-3649-4D98-A761-A903A5E87C9F}"/>
              </a:ext>
            </a:extLst>
          </p:cNvPr>
          <p:cNvSpPr>
            <a:spLocks noGrp="1"/>
          </p:cNvSpPr>
          <p:nvPr/>
        </p:nvSpPr>
        <p:spPr>
          <a:xfrm>
            <a:off x="7181850" y="2381250"/>
            <a:ext cx="392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Mesmo problema de energia</a:t>
            </a:r>
          </a:p>
        </p:txBody>
      </p:sp>
      <p:sp>
        <p:nvSpPr>
          <p:cNvPr id="13" name="bullet-1">
            <a:extLst>
              <a:ext uri="{FF2B5EF4-FFF2-40B4-BE49-F238E27FC236}">
                <a16:creationId xmlns:a16="http://schemas.microsoft.com/office/drawing/2014/main" id="{9F9A4839-0CB5-46AF-87F5-3F5698009A80}"/>
              </a:ext>
            </a:extLst>
          </p:cNvPr>
          <p:cNvSpPr>
            <a:spLocks noGrp="1"/>
          </p:cNvSpPr>
          <p:nvPr/>
        </p:nvSpPr>
        <p:spPr>
          <a:xfrm>
            <a:off x="6915150" y="31051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bullet-text-1">
            <a:extLst>
              <a:ext uri="{FF2B5EF4-FFF2-40B4-BE49-F238E27FC236}">
                <a16:creationId xmlns:a16="http://schemas.microsoft.com/office/drawing/2014/main" id="{0AF237A7-D3A4-46E9-9AE1-11FE7B1B042F}"/>
              </a:ext>
            </a:extLst>
          </p:cNvPr>
          <p:cNvSpPr>
            <a:spLocks noGrp="1"/>
          </p:cNvSpPr>
          <p:nvPr/>
        </p:nvSpPr>
        <p:spPr>
          <a:xfrm>
            <a:off x="7181850" y="3009900"/>
            <a:ext cx="392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Mesmo dataset e variável-alvo</a:t>
            </a:r>
          </a:p>
        </p:txBody>
      </p:sp>
      <p:sp>
        <p:nvSpPr>
          <p:cNvPr id="15" name="bullet-2">
            <a:extLst>
              <a:ext uri="{FF2B5EF4-FFF2-40B4-BE49-F238E27FC236}">
                <a16:creationId xmlns:a16="http://schemas.microsoft.com/office/drawing/2014/main" id="{17D2C152-C4B6-4179-B0B1-B21019635DFD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bullet-text-2">
            <a:extLst>
              <a:ext uri="{FF2B5EF4-FFF2-40B4-BE49-F238E27FC236}">
                <a16:creationId xmlns:a16="http://schemas.microsoft.com/office/drawing/2014/main" id="{D16BCED9-9AFC-44D2-B56B-9A6FE5A33496}"/>
              </a:ext>
            </a:extLst>
          </p:cNvPr>
          <p:cNvSpPr>
            <a:spLocks noGrp="1"/>
          </p:cNvSpPr>
          <p:nvPr/>
        </p:nvSpPr>
        <p:spPr>
          <a:xfrm>
            <a:off x="7181850" y="3638550"/>
            <a:ext cx="392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Métricas de regressão comparáveis</a:t>
            </a:r>
          </a:p>
        </p:txBody>
      </p:sp>
      <p:sp>
        <p:nvSpPr>
          <p:cNvPr id="17" name="bullet-3">
            <a:extLst>
              <a:ext uri="{FF2B5EF4-FFF2-40B4-BE49-F238E27FC236}">
                <a16:creationId xmlns:a16="http://schemas.microsoft.com/office/drawing/2014/main" id="{2B4A7ED7-4FC7-44CB-BDBA-3F94F3ABF229}"/>
              </a:ext>
            </a:extLst>
          </p:cNvPr>
          <p:cNvSpPr>
            <a:spLocks noGrp="1"/>
          </p:cNvSpPr>
          <p:nvPr/>
        </p:nvSpPr>
        <p:spPr>
          <a:xfrm>
            <a:off x="6915150" y="4362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bullet-text-3">
            <a:extLst>
              <a:ext uri="{FF2B5EF4-FFF2-40B4-BE49-F238E27FC236}">
                <a16:creationId xmlns:a16="http://schemas.microsoft.com/office/drawing/2014/main" id="{2717020D-006B-42FF-803A-16AAF0389AD8}"/>
              </a:ext>
            </a:extLst>
          </p:cNvPr>
          <p:cNvSpPr>
            <a:spLocks noGrp="1"/>
          </p:cNvSpPr>
          <p:nvPr/>
        </p:nvSpPr>
        <p:spPr>
          <a:xfrm>
            <a:off x="7181850" y="4267200"/>
            <a:ext cx="3924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Adaptação: MLP e divisão temporal</a:t>
            </a:r>
          </a:p>
        </p:txBody>
      </p:sp>
      <p:sp>
        <p:nvSpPr>
          <p:cNvPr id="19" name="caution">
            <a:extLst>
              <a:ext uri="{FF2B5EF4-FFF2-40B4-BE49-F238E27FC236}">
                <a16:creationId xmlns:a16="http://schemas.microsoft.com/office/drawing/2014/main" id="{FA3777DD-B6C3-41A8-955E-939C667A2B61}"/>
              </a:ext>
            </a:extLst>
          </p:cNvPr>
          <p:cNvSpPr>
            <a:spLocks noGrp="1"/>
          </p:cNvSpPr>
          <p:nvPr/>
        </p:nvSpPr>
        <p:spPr>
          <a:xfrm>
            <a:off x="6896100" y="5010150"/>
            <a:ext cx="430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D9534F"/>
                </a:solidFill>
              </a:defRPr>
            </a:pPr>
            <a:r>
              <a:rPr sz="1350" b="1">
                <a:solidFill>
                  <a:srgbClr val="D9534F"/>
                </a:solidFill>
              </a:rPr>
              <a:t>A MLP não foi o modelo central do artigo original.</a:t>
            </a:r>
          </a:p>
        </p:txBody>
      </p:sp>
      <p:sp>
        <p:nvSpPr>
          <p:cNvPr id="20" name="source">
            <a:extLst>
              <a:ext uri="{FF2B5EF4-FFF2-40B4-BE49-F238E27FC236}">
                <a16:creationId xmlns:a16="http://schemas.microsoft.com/office/drawing/2014/main" id="{2E160FA8-2DAD-4F7A-85DC-85EEE1498B6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Fontes: Candanedo et al. (2017); UCI Appliances Energy Prediction</a:t>
            </a:r>
          </a:p>
        </p:txBody>
      </p:sp>
      <p:sp>
        <p:nvSpPr>
          <p:cNvPr id="21" name="page">
            <a:extLst>
              <a:ext uri="{FF2B5EF4-FFF2-40B4-BE49-F238E27FC236}">
                <a16:creationId xmlns:a16="http://schemas.microsoft.com/office/drawing/2014/main" id="{A2647C95-2AE3-4084-B7DB-75857705FEE3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2171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accent">
            <a:extLst>
              <a:ext uri="{FF2B5EF4-FFF2-40B4-BE49-F238E27FC236}">
                <a16:creationId xmlns:a16="http://schemas.microsoft.com/office/drawing/2014/main" id="{E9EFDBA6-FCF9-4F11-B51D-37414A37E7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12FDEFBF-D17B-43CD-8F56-6DFD827DE4F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DADOS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FA4661-1EAD-44C6-887B-B0B24F2F4E9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Como o dataset está organizado?</a:t>
            </a:r>
          </a:p>
        </p:txBody>
      </p:sp>
      <p:sp>
        <p:nvSpPr>
          <p:cNvPr id="4" name="big-number">
            <a:extLst>
              <a:ext uri="{FF2B5EF4-FFF2-40B4-BE49-F238E27FC236}">
                <a16:creationId xmlns:a16="http://schemas.microsoft.com/office/drawing/2014/main" id="{09D6F29C-EB83-46DC-8112-7461E5F0A4FE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2952750" cy="2095500"/>
          </a:xfrm>
          <a:prstGeom prst="roundRect">
            <a:avLst>
              <a:gd name="adj" fmla="val 5455"/>
            </a:avLst>
          </a:prstGeom>
          <a:solidFill>
            <a:srgbClr val="12304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n">
            <a:extLst>
              <a:ext uri="{FF2B5EF4-FFF2-40B4-BE49-F238E27FC236}">
                <a16:creationId xmlns:a16="http://schemas.microsoft.com/office/drawing/2014/main" id="{48BAD9D3-9A2A-44D7-874F-53F3BA34A136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2457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19.735</a:t>
            </a:r>
          </a:p>
        </p:txBody>
      </p:sp>
      <p:sp>
        <p:nvSpPr>
          <p:cNvPr id="6" name="nlabel">
            <a:extLst>
              <a:ext uri="{FF2B5EF4-FFF2-40B4-BE49-F238E27FC236}">
                <a16:creationId xmlns:a16="http://schemas.microsoft.com/office/drawing/2014/main" id="{740C86FE-D012-4307-8E43-E108AEEBFE0A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4574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0">
                <a:solidFill>
                  <a:srgbClr val="CBE3EA"/>
                </a:solidFill>
              </a:defRPr>
            </a:pPr>
            <a:r>
              <a:rPr sz="1500" b="0">
                <a:solidFill>
                  <a:srgbClr val="CBE3EA"/>
                </a:solidFill>
              </a:rPr>
              <a:t>registros cronológicos</a:t>
            </a:r>
          </a:p>
        </p:txBody>
      </p:sp>
      <p:sp>
        <p:nvSpPr>
          <p:cNvPr id="7" name="frequency">
            <a:extLst>
              <a:ext uri="{FF2B5EF4-FFF2-40B4-BE49-F238E27FC236}">
                <a16:creationId xmlns:a16="http://schemas.microsoft.com/office/drawing/2014/main" id="{41D44894-FCE2-45A3-8D5A-65AE680BFA3B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2952750" cy="1428750"/>
          </a:xfrm>
          <a:prstGeom prst="roundRect">
            <a:avLst>
              <a:gd name="adj" fmla="val 8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freq">
            <a:extLst>
              <a:ext uri="{FF2B5EF4-FFF2-40B4-BE49-F238E27FC236}">
                <a16:creationId xmlns:a16="http://schemas.microsoft.com/office/drawing/2014/main" id="{C8A12142-219B-43AD-B9FF-06747C5B2322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245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10 min</a:t>
            </a:r>
          </a:p>
        </p:txBody>
      </p:sp>
      <p:sp>
        <p:nvSpPr>
          <p:cNvPr id="9" name="freqlabel">
            <a:extLst>
              <a:ext uri="{FF2B5EF4-FFF2-40B4-BE49-F238E27FC236}">
                <a16:creationId xmlns:a16="http://schemas.microsoft.com/office/drawing/2014/main" id="{FC5D23A9-708C-4921-8636-570C4893CAC2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entre cada medição</a:t>
            </a:r>
          </a:p>
        </p:txBody>
      </p:sp>
      <p:sp>
        <p:nvSpPr>
          <p:cNvPr id="10" name="bullet-0">
            <a:extLst>
              <a:ext uri="{FF2B5EF4-FFF2-40B4-BE49-F238E27FC236}">
                <a16:creationId xmlns:a16="http://schemas.microsoft.com/office/drawing/2014/main" id="{93B46345-7296-4712-9015-94CBA638D612}"/>
              </a:ext>
            </a:extLst>
          </p:cNvPr>
          <p:cNvSpPr>
            <a:spLocks noGrp="1"/>
          </p:cNvSpPr>
          <p:nvPr/>
        </p:nvSpPr>
        <p:spPr>
          <a:xfrm>
            <a:off x="4229100" y="15621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bullet-text-0">
            <a:extLst>
              <a:ext uri="{FF2B5EF4-FFF2-40B4-BE49-F238E27FC236}">
                <a16:creationId xmlns:a16="http://schemas.microsoft.com/office/drawing/2014/main" id="{E46BC3AB-3CE3-4D91-96AD-1F881B49705B}"/>
              </a:ext>
            </a:extLst>
          </p:cNvPr>
          <p:cNvSpPr>
            <a:spLocks noGrp="1"/>
          </p:cNvSpPr>
          <p:nvPr/>
        </p:nvSpPr>
        <p:spPr>
          <a:xfrm>
            <a:off x="4495800" y="1466850"/>
            <a:ext cx="680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5222D"/>
                </a:solidFill>
              </a:defRPr>
            </a:pPr>
            <a:r>
              <a:rPr sz="1575" b="0">
                <a:solidFill>
                  <a:srgbClr val="15222D"/>
                </a:solidFill>
              </a:rPr>
              <a:t>Alvo: Appliances — consumo em Wh</a:t>
            </a:r>
          </a:p>
        </p:txBody>
      </p:sp>
      <p:sp>
        <p:nvSpPr>
          <p:cNvPr id="12" name="bullet-1">
            <a:extLst>
              <a:ext uri="{FF2B5EF4-FFF2-40B4-BE49-F238E27FC236}">
                <a16:creationId xmlns:a16="http://schemas.microsoft.com/office/drawing/2014/main" id="{5373E871-11D7-45A8-AACC-446FF10FA49D}"/>
              </a:ext>
            </a:extLst>
          </p:cNvPr>
          <p:cNvSpPr>
            <a:spLocks noGrp="1"/>
          </p:cNvSpPr>
          <p:nvPr/>
        </p:nvSpPr>
        <p:spPr>
          <a:xfrm>
            <a:off x="4229100" y="2266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bullet-text-1">
            <a:extLst>
              <a:ext uri="{FF2B5EF4-FFF2-40B4-BE49-F238E27FC236}">
                <a16:creationId xmlns:a16="http://schemas.microsoft.com/office/drawing/2014/main" id="{049D0283-CA9F-45C3-B7D1-2655A5894B71}"/>
              </a:ext>
            </a:extLst>
          </p:cNvPr>
          <p:cNvSpPr>
            <a:spLocks noGrp="1"/>
          </p:cNvSpPr>
          <p:nvPr/>
        </p:nvSpPr>
        <p:spPr>
          <a:xfrm>
            <a:off x="4495800" y="2171700"/>
            <a:ext cx="680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5222D"/>
                </a:solidFill>
              </a:defRPr>
            </a:pPr>
            <a:r>
              <a:rPr sz="1575" b="0">
                <a:solidFill>
                  <a:srgbClr val="15222D"/>
                </a:solidFill>
              </a:rPr>
              <a:t>9 ambientes com temperatura e umidade</a:t>
            </a:r>
          </a:p>
        </p:txBody>
      </p:sp>
      <p:sp>
        <p:nvSpPr>
          <p:cNvPr id="14" name="bullet-2">
            <a:extLst>
              <a:ext uri="{FF2B5EF4-FFF2-40B4-BE49-F238E27FC236}">
                <a16:creationId xmlns:a16="http://schemas.microsoft.com/office/drawing/2014/main" id="{FABA8D74-8299-4F4B-9247-D8EF089D3446}"/>
              </a:ext>
            </a:extLst>
          </p:cNvPr>
          <p:cNvSpPr>
            <a:spLocks noGrp="1"/>
          </p:cNvSpPr>
          <p:nvPr/>
        </p:nvSpPr>
        <p:spPr>
          <a:xfrm>
            <a:off x="4229100" y="2971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bullet-text-2">
            <a:extLst>
              <a:ext uri="{FF2B5EF4-FFF2-40B4-BE49-F238E27FC236}">
                <a16:creationId xmlns:a16="http://schemas.microsoft.com/office/drawing/2014/main" id="{4186ADD9-F8B3-485C-9F60-40A294183ED1}"/>
              </a:ext>
            </a:extLst>
          </p:cNvPr>
          <p:cNvSpPr>
            <a:spLocks noGrp="1"/>
          </p:cNvSpPr>
          <p:nvPr/>
        </p:nvSpPr>
        <p:spPr>
          <a:xfrm>
            <a:off x="4495800" y="2876550"/>
            <a:ext cx="680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5222D"/>
                </a:solidFill>
              </a:defRPr>
            </a:pPr>
            <a:r>
              <a:rPr sz="1575" b="0">
                <a:solidFill>
                  <a:srgbClr val="15222D"/>
                </a:solidFill>
              </a:rPr>
              <a:t>Iluminação e condições meteorológicas externas</a:t>
            </a:r>
          </a:p>
        </p:txBody>
      </p:sp>
      <p:sp>
        <p:nvSpPr>
          <p:cNvPr id="16" name="bullet-3">
            <a:extLst>
              <a:ext uri="{FF2B5EF4-FFF2-40B4-BE49-F238E27FC236}">
                <a16:creationId xmlns:a16="http://schemas.microsoft.com/office/drawing/2014/main" id="{F1F1C280-253E-4E58-9D69-3A7444161FD6}"/>
              </a:ext>
            </a:extLst>
          </p:cNvPr>
          <p:cNvSpPr>
            <a:spLocks noGrp="1"/>
          </p:cNvSpPr>
          <p:nvPr/>
        </p:nvSpPr>
        <p:spPr>
          <a:xfrm>
            <a:off x="4229100" y="3676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bullet-text-3">
            <a:extLst>
              <a:ext uri="{FF2B5EF4-FFF2-40B4-BE49-F238E27FC236}">
                <a16:creationId xmlns:a16="http://schemas.microsoft.com/office/drawing/2014/main" id="{4F7563A4-7899-4DA9-8391-C76A342A5CE2}"/>
              </a:ext>
            </a:extLst>
          </p:cNvPr>
          <p:cNvSpPr>
            <a:spLocks noGrp="1"/>
          </p:cNvSpPr>
          <p:nvPr/>
        </p:nvSpPr>
        <p:spPr>
          <a:xfrm>
            <a:off x="4495800" y="3581400"/>
            <a:ext cx="680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5222D"/>
                </a:solidFill>
              </a:defRPr>
            </a:pPr>
            <a:r>
              <a:rPr sz="1575" b="0">
                <a:solidFill>
                  <a:srgbClr val="15222D"/>
                </a:solidFill>
              </a:rPr>
              <a:t>Período de aproximadamente 4,5 meses</a:t>
            </a:r>
          </a:p>
        </p:txBody>
      </p:sp>
      <p:sp>
        <p:nvSpPr>
          <p:cNvPr id="18" name="bullet-4">
            <a:extLst>
              <a:ext uri="{FF2B5EF4-FFF2-40B4-BE49-F238E27FC236}">
                <a16:creationId xmlns:a16="http://schemas.microsoft.com/office/drawing/2014/main" id="{84FEC966-2A18-4959-89B5-98CCD4F5EF9F}"/>
              </a:ext>
            </a:extLst>
          </p:cNvPr>
          <p:cNvSpPr>
            <a:spLocks noGrp="1"/>
          </p:cNvSpPr>
          <p:nvPr/>
        </p:nvSpPr>
        <p:spPr>
          <a:xfrm>
            <a:off x="4229100" y="4381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bullet-text-4">
            <a:extLst>
              <a:ext uri="{FF2B5EF4-FFF2-40B4-BE49-F238E27FC236}">
                <a16:creationId xmlns:a16="http://schemas.microsoft.com/office/drawing/2014/main" id="{0DFA8418-B10C-4247-B3EB-4167AD4F98E5}"/>
              </a:ext>
            </a:extLst>
          </p:cNvPr>
          <p:cNvSpPr>
            <a:spLocks noGrp="1"/>
          </p:cNvSpPr>
          <p:nvPr/>
        </p:nvSpPr>
        <p:spPr>
          <a:xfrm>
            <a:off x="4495800" y="4286250"/>
            <a:ext cx="6800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15222D"/>
                </a:solidFill>
              </a:defRPr>
            </a:pPr>
            <a:r>
              <a:rPr sz="1575" b="0">
                <a:solidFill>
                  <a:srgbClr val="15222D"/>
                </a:solidFill>
              </a:rPr>
              <a:t>Sem valores ausentes no arquivo original</a:t>
            </a:r>
          </a:p>
        </p:txBody>
      </p:sp>
      <p:sp>
        <p:nvSpPr>
          <p:cNvPr id="20" name="source">
            <a:extLst>
              <a:ext uri="{FF2B5EF4-FFF2-40B4-BE49-F238E27FC236}">
                <a16:creationId xmlns:a16="http://schemas.microsoft.com/office/drawing/2014/main" id="{C6561233-4B56-4D40-AA7B-B73D30D7D14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Fonte: UCI Machine Learning Repository, dataset 374</a:t>
            </a:r>
          </a:p>
        </p:txBody>
      </p:sp>
      <p:sp>
        <p:nvSpPr>
          <p:cNvPr id="21" name="page">
            <a:extLst>
              <a:ext uri="{FF2B5EF4-FFF2-40B4-BE49-F238E27FC236}">
                <a16:creationId xmlns:a16="http://schemas.microsoft.com/office/drawing/2014/main" id="{E5680160-C5AB-446E-9C5C-491A6437066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4229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accent">
            <a:extLst>
              <a:ext uri="{FF2B5EF4-FFF2-40B4-BE49-F238E27FC236}">
                <a16:creationId xmlns:a16="http://schemas.microsoft.com/office/drawing/2014/main" id="{7E1197C6-BABF-4CB6-BA8C-C949314ECC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F9809522-2FFF-4360-8DB0-9541032AB32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CONCEITO-CHAVE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2179AAC-FC98-421A-8FC9-8A6F6169816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O que é uma série temporal multivariada?</a:t>
            </a:r>
          </a:p>
        </p:txBody>
      </p:sp>
      <p:sp>
        <p:nvSpPr>
          <p:cNvPr id="4" name="temporal">
            <a:extLst>
              <a:ext uri="{FF2B5EF4-FFF2-40B4-BE49-F238E27FC236}">
                <a16:creationId xmlns:a16="http://schemas.microsoft.com/office/drawing/2014/main" id="{AA734464-51CC-400D-BE04-F0E719D46406}"/>
              </a:ext>
            </a:extLst>
          </p:cNvPr>
          <p:cNvSpPr>
            <a:spLocks noGrp="1"/>
          </p:cNvSpPr>
          <p:nvPr/>
        </p:nvSpPr>
        <p:spPr>
          <a:xfrm>
            <a:off x="857250" y="15621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677A6"/>
                </a:solidFill>
              </a:defRPr>
            </a:pPr>
            <a:r>
              <a:rPr sz="1650" b="1">
                <a:solidFill>
                  <a:srgbClr val="1677A6"/>
                </a:solidFill>
              </a:rPr>
              <a:t>TEMPORAL</a:t>
            </a:r>
          </a:p>
        </p:txBody>
      </p:sp>
      <p:sp>
        <p:nvSpPr>
          <p:cNvPr id="5" name="temporal-desc">
            <a:extLst>
              <a:ext uri="{FF2B5EF4-FFF2-40B4-BE49-F238E27FC236}">
                <a16:creationId xmlns:a16="http://schemas.microsoft.com/office/drawing/2014/main" id="{3DE69CFE-688E-418E-A881-BBA4203F96E6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5222D"/>
                </a:solidFill>
              </a:defRPr>
            </a:pPr>
            <a:r>
              <a:rPr sz="1800" b="1">
                <a:solidFill>
                  <a:srgbClr val="15222D"/>
                </a:solidFill>
              </a:rPr>
              <a:t>A ordem importa. O passado vem antes do futuro.</a:t>
            </a:r>
          </a:p>
        </p:txBody>
      </p:sp>
      <p:sp>
        <p:nvSpPr>
          <p:cNvPr id="6" name="multi">
            <a:extLst>
              <a:ext uri="{FF2B5EF4-FFF2-40B4-BE49-F238E27FC236}">
                <a16:creationId xmlns:a16="http://schemas.microsoft.com/office/drawing/2014/main" id="{ABABFB7B-CD76-4A6D-BB55-D4946F457EA1}"/>
              </a:ext>
            </a:extLst>
          </p:cNvPr>
          <p:cNvSpPr>
            <a:spLocks noGrp="1"/>
          </p:cNvSpPr>
          <p:nvPr/>
        </p:nvSpPr>
        <p:spPr>
          <a:xfrm>
            <a:off x="4667250" y="15621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C8C7A"/>
                </a:solidFill>
              </a:defRPr>
            </a:pPr>
            <a:r>
              <a:rPr sz="1650" b="1">
                <a:solidFill>
                  <a:srgbClr val="1C8C7A"/>
                </a:solidFill>
              </a:rPr>
              <a:t>MULTIVARIADA</a:t>
            </a:r>
          </a:p>
        </p:txBody>
      </p:sp>
      <p:sp>
        <p:nvSpPr>
          <p:cNvPr id="7" name="multi-desc">
            <a:extLst>
              <a:ext uri="{FF2B5EF4-FFF2-40B4-BE49-F238E27FC236}">
                <a16:creationId xmlns:a16="http://schemas.microsoft.com/office/drawing/2014/main" id="{6BC25143-DF98-4CF4-B760-C43A3C91F93C}"/>
              </a:ext>
            </a:extLst>
          </p:cNvPr>
          <p:cNvSpPr>
            <a:spLocks noGrp="1"/>
          </p:cNvSpPr>
          <p:nvPr/>
        </p:nvSpPr>
        <p:spPr>
          <a:xfrm>
            <a:off x="4667250" y="2000250"/>
            <a:ext cx="285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5222D"/>
                </a:solidFill>
              </a:defRPr>
            </a:pPr>
            <a:r>
              <a:rPr sz="1800" b="1">
                <a:solidFill>
                  <a:srgbClr val="15222D"/>
                </a:solidFill>
              </a:rPr>
              <a:t>Várias medidas evoluem juntas no mesmo relógio.</a:t>
            </a:r>
          </a:p>
        </p:txBody>
      </p:sp>
      <p:sp>
        <p:nvSpPr>
          <p:cNvPr id="8" name="forecast">
            <a:extLst>
              <a:ext uri="{FF2B5EF4-FFF2-40B4-BE49-F238E27FC236}">
                <a16:creationId xmlns:a16="http://schemas.microsoft.com/office/drawing/2014/main" id="{0B153706-C33E-412F-A260-EE2A24B1C40E}"/>
              </a:ext>
            </a:extLst>
          </p:cNvPr>
          <p:cNvSpPr>
            <a:spLocks noGrp="1"/>
          </p:cNvSpPr>
          <p:nvPr/>
        </p:nvSpPr>
        <p:spPr>
          <a:xfrm>
            <a:off x="8572500" y="156210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2A93B"/>
                </a:solidFill>
              </a:defRPr>
            </a:pPr>
            <a:r>
              <a:rPr sz="1650" b="1">
                <a:solidFill>
                  <a:srgbClr val="F2A93B"/>
                </a:solidFill>
              </a:rPr>
              <a:t>PREVISÃO</a:t>
            </a:r>
          </a:p>
        </p:txBody>
      </p:sp>
      <p:sp>
        <p:nvSpPr>
          <p:cNvPr id="9" name="forecast-desc">
            <a:extLst>
              <a:ext uri="{FF2B5EF4-FFF2-40B4-BE49-F238E27FC236}">
                <a16:creationId xmlns:a16="http://schemas.microsoft.com/office/drawing/2014/main" id="{6A284059-92E7-488C-9814-0DF835C65667}"/>
              </a:ext>
            </a:extLst>
          </p:cNvPr>
          <p:cNvSpPr>
            <a:spLocks noGrp="1"/>
          </p:cNvSpPr>
          <p:nvPr/>
        </p:nvSpPr>
        <p:spPr>
          <a:xfrm>
            <a:off x="8572500" y="2000250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5222D"/>
                </a:solidFill>
              </a:defRPr>
            </a:pPr>
            <a:r>
              <a:rPr sz="1800" b="1">
                <a:solidFill>
                  <a:srgbClr val="15222D"/>
                </a:solidFill>
              </a:rPr>
              <a:t>Usamos contexto conhecido para estimar o próximo valor.</a:t>
            </a:r>
          </a:p>
        </p:txBody>
      </p:sp>
      <p:sp>
        <p:nvSpPr>
          <p:cNvPr id="10" name="axis">
            <a:extLst>
              <a:ext uri="{FF2B5EF4-FFF2-40B4-BE49-F238E27FC236}">
                <a16:creationId xmlns:a16="http://schemas.microsoft.com/office/drawing/2014/main" id="{D3A0DF2F-FD68-4E48-8647-E19D9DE3BC28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9810750" cy="38100"/>
          </a:xfrm>
          <a:prstGeom prst="rect">
            <a:avLst/>
          </a:prstGeom>
          <a:solidFill>
            <a:srgbClr val="12304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ick0">
            <a:extLst>
              <a:ext uri="{FF2B5EF4-FFF2-40B4-BE49-F238E27FC236}">
                <a16:creationId xmlns:a16="http://schemas.microsoft.com/office/drawing/2014/main" id="{EEB9356C-22CA-437C-9DF1-70285DD4DD7D}"/>
              </a:ext>
            </a:extLst>
          </p:cNvPr>
          <p:cNvSpPr>
            <a:spLocks noGrp="1"/>
          </p:cNvSpPr>
          <p:nvPr/>
        </p:nvSpPr>
        <p:spPr>
          <a:xfrm>
            <a:off x="1238250" y="3838575"/>
            <a:ext cx="171450" cy="36195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ime0">
            <a:extLst>
              <a:ext uri="{FF2B5EF4-FFF2-40B4-BE49-F238E27FC236}">
                <a16:creationId xmlns:a16="http://schemas.microsoft.com/office/drawing/2014/main" id="{83CDC6C6-22CA-4F49-9D2F-C655A9652160}"/>
              </a:ext>
            </a:extLst>
          </p:cNvPr>
          <p:cNvSpPr>
            <a:spLocks noGrp="1"/>
          </p:cNvSpPr>
          <p:nvPr/>
        </p:nvSpPr>
        <p:spPr>
          <a:xfrm>
            <a:off x="723900" y="43434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26575"/>
                </a:solidFill>
              </a:defRPr>
            </a:pPr>
            <a:r>
              <a:rPr sz="1275" b="1">
                <a:solidFill>
                  <a:srgbClr val="526575"/>
                </a:solidFill>
              </a:rPr>
              <a:t>t − 40 min</a:t>
            </a:r>
          </a:p>
        </p:txBody>
      </p:sp>
      <p:sp>
        <p:nvSpPr>
          <p:cNvPr id="13" name="tick1">
            <a:extLst>
              <a:ext uri="{FF2B5EF4-FFF2-40B4-BE49-F238E27FC236}">
                <a16:creationId xmlns:a16="http://schemas.microsoft.com/office/drawing/2014/main" id="{1924787F-C452-4EB3-867F-35ADB7CA73A4}"/>
              </a:ext>
            </a:extLst>
          </p:cNvPr>
          <p:cNvSpPr>
            <a:spLocks noGrp="1"/>
          </p:cNvSpPr>
          <p:nvPr/>
        </p:nvSpPr>
        <p:spPr>
          <a:xfrm>
            <a:off x="3571875" y="3838575"/>
            <a:ext cx="171450" cy="36195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ime1">
            <a:extLst>
              <a:ext uri="{FF2B5EF4-FFF2-40B4-BE49-F238E27FC236}">
                <a16:creationId xmlns:a16="http://schemas.microsoft.com/office/drawing/2014/main" id="{038ED802-4C2A-40E9-A7E6-CA4826DFAEB1}"/>
              </a:ext>
            </a:extLst>
          </p:cNvPr>
          <p:cNvSpPr>
            <a:spLocks noGrp="1"/>
          </p:cNvSpPr>
          <p:nvPr/>
        </p:nvSpPr>
        <p:spPr>
          <a:xfrm>
            <a:off x="3057525" y="43434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26575"/>
                </a:solidFill>
              </a:defRPr>
            </a:pPr>
            <a:r>
              <a:rPr sz="1275" b="1">
                <a:solidFill>
                  <a:srgbClr val="526575"/>
                </a:solidFill>
              </a:rPr>
              <a:t>t − 30 min</a:t>
            </a:r>
          </a:p>
        </p:txBody>
      </p:sp>
      <p:sp>
        <p:nvSpPr>
          <p:cNvPr id="15" name="tick2">
            <a:extLst>
              <a:ext uri="{FF2B5EF4-FFF2-40B4-BE49-F238E27FC236}">
                <a16:creationId xmlns:a16="http://schemas.microsoft.com/office/drawing/2014/main" id="{C5BE0889-2B58-4095-A7CD-88B848C752EA}"/>
              </a:ext>
            </a:extLst>
          </p:cNvPr>
          <p:cNvSpPr>
            <a:spLocks noGrp="1"/>
          </p:cNvSpPr>
          <p:nvPr/>
        </p:nvSpPr>
        <p:spPr>
          <a:xfrm>
            <a:off x="5905500" y="3838575"/>
            <a:ext cx="171450" cy="36195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ime2">
            <a:extLst>
              <a:ext uri="{FF2B5EF4-FFF2-40B4-BE49-F238E27FC236}">
                <a16:creationId xmlns:a16="http://schemas.microsoft.com/office/drawing/2014/main" id="{7DBB8D1F-6A9A-48C0-8B77-2459B7C212A5}"/>
              </a:ext>
            </a:extLst>
          </p:cNvPr>
          <p:cNvSpPr>
            <a:spLocks noGrp="1"/>
          </p:cNvSpPr>
          <p:nvPr/>
        </p:nvSpPr>
        <p:spPr>
          <a:xfrm>
            <a:off x="5391150" y="43434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26575"/>
                </a:solidFill>
              </a:defRPr>
            </a:pPr>
            <a:r>
              <a:rPr sz="1275" b="1">
                <a:solidFill>
                  <a:srgbClr val="526575"/>
                </a:solidFill>
              </a:rPr>
              <a:t>t − 20 min</a:t>
            </a:r>
          </a:p>
        </p:txBody>
      </p:sp>
      <p:sp>
        <p:nvSpPr>
          <p:cNvPr id="17" name="tick3">
            <a:extLst>
              <a:ext uri="{FF2B5EF4-FFF2-40B4-BE49-F238E27FC236}">
                <a16:creationId xmlns:a16="http://schemas.microsoft.com/office/drawing/2014/main" id="{F52DF3FF-5E3A-4A2F-B0DE-CBE61B353762}"/>
              </a:ext>
            </a:extLst>
          </p:cNvPr>
          <p:cNvSpPr>
            <a:spLocks noGrp="1"/>
          </p:cNvSpPr>
          <p:nvPr/>
        </p:nvSpPr>
        <p:spPr>
          <a:xfrm>
            <a:off x="8239125" y="3838575"/>
            <a:ext cx="171450" cy="36195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ime3">
            <a:extLst>
              <a:ext uri="{FF2B5EF4-FFF2-40B4-BE49-F238E27FC236}">
                <a16:creationId xmlns:a16="http://schemas.microsoft.com/office/drawing/2014/main" id="{7F236BC5-DD4F-4696-AC43-1C9C7884DF03}"/>
              </a:ext>
            </a:extLst>
          </p:cNvPr>
          <p:cNvSpPr>
            <a:spLocks noGrp="1"/>
          </p:cNvSpPr>
          <p:nvPr/>
        </p:nvSpPr>
        <p:spPr>
          <a:xfrm>
            <a:off x="7724775" y="43434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526575"/>
                </a:solidFill>
              </a:defRPr>
            </a:pPr>
            <a:r>
              <a:rPr sz="1275" b="1">
                <a:solidFill>
                  <a:srgbClr val="526575"/>
                </a:solidFill>
              </a:rPr>
              <a:t>t − 10 min</a:t>
            </a:r>
          </a:p>
        </p:txBody>
      </p:sp>
      <p:sp>
        <p:nvSpPr>
          <p:cNvPr id="19" name="tick4">
            <a:extLst>
              <a:ext uri="{FF2B5EF4-FFF2-40B4-BE49-F238E27FC236}">
                <a16:creationId xmlns:a16="http://schemas.microsoft.com/office/drawing/2014/main" id="{8FD8DF50-0452-4F0C-94C2-DF0C1FFAE0CB}"/>
              </a:ext>
            </a:extLst>
          </p:cNvPr>
          <p:cNvSpPr>
            <a:spLocks noGrp="1"/>
          </p:cNvSpPr>
          <p:nvPr/>
        </p:nvSpPr>
        <p:spPr>
          <a:xfrm>
            <a:off x="10572750" y="3838575"/>
            <a:ext cx="171450" cy="36195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ime4">
            <a:extLst>
              <a:ext uri="{FF2B5EF4-FFF2-40B4-BE49-F238E27FC236}">
                <a16:creationId xmlns:a16="http://schemas.microsoft.com/office/drawing/2014/main" id="{5A39A303-2C48-468A-A50F-7C8D82BDD301}"/>
              </a:ext>
            </a:extLst>
          </p:cNvPr>
          <p:cNvSpPr>
            <a:spLocks noGrp="1"/>
          </p:cNvSpPr>
          <p:nvPr/>
        </p:nvSpPr>
        <p:spPr>
          <a:xfrm>
            <a:off x="10058400" y="4343400"/>
            <a:ext cx="1200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2A93B"/>
                </a:solidFill>
              </a:defRPr>
            </a:pPr>
            <a:r>
              <a:rPr sz="1275" b="1">
                <a:solidFill>
                  <a:srgbClr val="F2A93B"/>
                </a:solidFill>
              </a:rPr>
              <a:t>t + 10 min</a:t>
            </a:r>
          </a:p>
        </p:txBody>
      </p:sp>
      <p:sp>
        <p:nvSpPr>
          <p:cNvPr id="21" name="warning">
            <a:extLst>
              <a:ext uri="{FF2B5EF4-FFF2-40B4-BE49-F238E27FC236}">
                <a16:creationId xmlns:a16="http://schemas.microsoft.com/office/drawing/2014/main" id="{98D29A87-A8B3-4250-965A-B017ECAC2C5E}"/>
              </a:ext>
            </a:extLst>
          </p:cNvPr>
          <p:cNvSpPr>
            <a:spLocks noGrp="1"/>
          </p:cNvSpPr>
          <p:nvPr/>
        </p:nvSpPr>
        <p:spPr>
          <a:xfrm>
            <a:off x="2381250" y="5219700"/>
            <a:ext cx="7429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D9534F"/>
                </a:solidFill>
              </a:defRPr>
            </a:pPr>
            <a:r>
              <a:rPr sz="1875" b="1">
                <a:solidFill>
                  <a:srgbClr val="D9534F"/>
                </a:solidFill>
              </a:rPr>
              <a:t>Não embaralhar: o futuro não pode ensinar o passado.</a:t>
            </a:r>
          </a:p>
        </p:txBody>
      </p:sp>
      <p:sp>
        <p:nvSpPr>
          <p:cNvPr id="22" name="source">
            <a:extLst>
              <a:ext uri="{FF2B5EF4-FFF2-40B4-BE49-F238E27FC236}">
                <a16:creationId xmlns:a16="http://schemas.microsoft.com/office/drawing/2014/main" id="{C393B4BC-A1C5-4835-A095-CE15E454BD3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23" name="page">
            <a:extLst>
              <a:ext uri="{FF2B5EF4-FFF2-40B4-BE49-F238E27FC236}">
                <a16:creationId xmlns:a16="http://schemas.microsoft.com/office/drawing/2014/main" id="{90612184-3B4A-4C0C-A534-A0C3E58C5A75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353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-accent">
            <a:extLst>
              <a:ext uri="{FF2B5EF4-FFF2-40B4-BE49-F238E27FC236}">
                <a16:creationId xmlns:a16="http://schemas.microsoft.com/office/drawing/2014/main" id="{CB654A3D-A004-47E7-8BAE-8091B0F328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DC5FD34D-FA0A-4799-B4BA-9C325D4F3DF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ENGENHARIA DE ATRIBUTOS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142A803-16F2-45CF-9D14-739540CF086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Como transformamos tempo em entradas para a MLP?</a:t>
            </a:r>
          </a:p>
        </p:txBody>
      </p:sp>
      <p:sp>
        <p:nvSpPr>
          <p:cNvPr id="4" name="left">
            <a:extLst>
              <a:ext uri="{FF2B5EF4-FFF2-40B4-BE49-F238E27FC236}">
                <a16:creationId xmlns:a16="http://schemas.microsoft.com/office/drawing/2014/main" id="{804638B4-74B2-42DB-B7CE-439DBE30C08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762500" cy="42862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left-title">
            <a:extLst>
              <a:ext uri="{FF2B5EF4-FFF2-40B4-BE49-F238E27FC236}">
                <a16:creationId xmlns:a16="http://schemas.microsoft.com/office/drawing/2014/main" id="{418E514B-0ED0-4AD0-B623-C3D4A560ED36}"/>
              </a:ext>
            </a:extLst>
          </p:cNvPr>
          <p:cNvSpPr>
            <a:spLocks noGrp="1"/>
          </p:cNvSpPr>
          <p:nvPr/>
        </p:nvSpPr>
        <p:spPr>
          <a:xfrm>
            <a:off x="914400" y="169545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677A6"/>
                </a:solidFill>
              </a:defRPr>
            </a:pPr>
            <a:r>
              <a:rPr sz="1950" b="1">
                <a:solidFill>
                  <a:srgbClr val="1677A6"/>
                </a:solidFill>
              </a:rPr>
              <a:t>Memória explícita</a:t>
            </a:r>
          </a:p>
        </p:txBody>
      </p:sp>
      <p:sp>
        <p:nvSpPr>
          <p:cNvPr id="6" name="bullet-0">
            <a:extLst>
              <a:ext uri="{FF2B5EF4-FFF2-40B4-BE49-F238E27FC236}">
                <a16:creationId xmlns:a16="http://schemas.microsoft.com/office/drawing/2014/main" id="{333191B4-6EE1-4B59-BACA-25A96A7ADFD8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bullet-text-0">
            <a:extLst>
              <a:ext uri="{FF2B5EF4-FFF2-40B4-BE49-F238E27FC236}">
                <a16:creationId xmlns:a16="http://schemas.microsoft.com/office/drawing/2014/main" id="{AA905650-0923-4DC6-90F7-C7797A339F92}"/>
              </a:ext>
            </a:extLst>
          </p:cNvPr>
          <p:cNvSpPr>
            <a:spLocks noGrp="1"/>
          </p:cNvSpPr>
          <p:nvPr/>
        </p:nvSpPr>
        <p:spPr>
          <a:xfrm>
            <a:off x="1219200" y="230505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Consumo atual</a:t>
            </a:r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B8A38F4D-23BD-481E-8657-FEE161D06D60}"/>
              </a:ext>
            </a:extLst>
          </p:cNvPr>
          <p:cNvSpPr>
            <a:spLocks noGrp="1"/>
          </p:cNvSpPr>
          <p:nvPr/>
        </p:nvSpPr>
        <p:spPr>
          <a:xfrm>
            <a:off x="952500" y="3028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bullet-text-1">
            <a:extLst>
              <a:ext uri="{FF2B5EF4-FFF2-40B4-BE49-F238E27FC236}">
                <a16:creationId xmlns:a16="http://schemas.microsoft.com/office/drawing/2014/main" id="{71AFAE46-B9B1-4F52-9BAC-A0C856D44E1E}"/>
              </a:ext>
            </a:extLst>
          </p:cNvPr>
          <p:cNvSpPr>
            <a:spLocks noGrp="1"/>
          </p:cNvSpPr>
          <p:nvPr/>
        </p:nvSpPr>
        <p:spPr>
          <a:xfrm>
            <a:off x="1219200" y="293370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Defasagem de 10 min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9D90A80B-FA38-46F5-BF94-FDA127BCD39F}"/>
              </a:ext>
            </a:extLst>
          </p:cNvPr>
          <p:cNvSpPr>
            <a:spLocks noGrp="1"/>
          </p:cNvSpPr>
          <p:nvPr/>
        </p:nvSpPr>
        <p:spPr>
          <a:xfrm>
            <a:off x="952500" y="3657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bullet-text-2">
            <a:extLst>
              <a:ext uri="{FF2B5EF4-FFF2-40B4-BE49-F238E27FC236}">
                <a16:creationId xmlns:a16="http://schemas.microsoft.com/office/drawing/2014/main" id="{0ED50DAF-5FAF-4B5F-A69F-B1B175237087}"/>
              </a:ext>
            </a:extLst>
          </p:cNvPr>
          <p:cNvSpPr>
            <a:spLocks noGrp="1"/>
          </p:cNvSpPr>
          <p:nvPr/>
        </p:nvSpPr>
        <p:spPr>
          <a:xfrm>
            <a:off x="1219200" y="356235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Defasagens de 1 h, 2 h e 24 h</a:t>
            </a:r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E2D71E14-B86D-4AA2-AED0-091DD23B48D0}"/>
              </a:ext>
            </a:extLst>
          </p:cNvPr>
          <p:cNvSpPr>
            <a:spLocks noGrp="1"/>
          </p:cNvSpPr>
          <p:nvPr/>
        </p:nvSpPr>
        <p:spPr>
          <a:xfrm>
            <a:off x="952500" y="4286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bullet-text-3">
            <a:extLst>
              <a:ext uri="{FF2B5EF4-FFF2-40B4-BE49-F238E27FC236}">
                <a16:creationId xmlns:a16="http://schemas.microsoft.com/office/drawing/2014/main" id="{E8B36107-F43E-4E09-8CA3-20158C008653}"/>
              </a:ext>
            </a:extLst>
          </p:cNvPr>
          <p:cNvSpPr>
            <a:spLocks noGrp="1"/>
          </p:cNvSpPr>
          <p:nvPr/>
        </p:nvSpPr>
        <p:spPr>
          <a:xfrm>
            <a:off x="1219200" y="4191000"/>
            <a:ext cx="3733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Médias móveis de 1 h e 6 h</a:t>
            </a:r>
          </a:p>
        </p:txBody>
      </p:sp>
      <p:sp>
        <p:nvSpPr>
          <p:cNvPr id="14" name="right">
            <a:extLst>
              <a:ext uri="{FF2B5EF4-FFF2-40B4-BE49-F238E27FC236}">
                <a16:creationId xmlns:a16="http://schemas.microsoft.com/office/drawing/2014/main" id="{11ACFADA-F4CC-4CD9-9FD7-EADC060C4877}"/>
              </a:ext>
            </a:extLst>
          </p:cNvPr>
          <p:cNvSpPr>
            <a:spLocks noGrp="1"/>
          </p:cNvSpPr>
          <p:nvPr/>
        </p:nvSpPr>
        <p:spPr>
          <a:xfrm>
            <a:off x="5772150" y="1428750"/>
            <a:ext cx="5810250" cy="4286250"/>
          </a:xfrm>
          <a:prstGeom prst="roundRect">
            <a:avLst>
              <a:gd name="adj" fmla="val 2667"/>
            </a:avLst>
          </a:prstGeom>
          <a:solidFill>
            <a:srgbClr val="E8F4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ight-title">
            <a:extLst>
              <a:ext uri="{FF2B5EF4-FFF2-40B4-BE49-F238E27FC236}">
                <a16:creationId xmlns:a16="http://schemas.microsoft.com/office/drawing/2014/main" id="{277F522C-AD80-4277-81B5-B1F6801B75A0}"/>
              </a:ext>
            </a:extLst>
          </p:cNvPr>
          <p:cNvSpPr>
            <a:spLocks noGrp="1"/>
          </p:cNvSpPr>
          <p:nvPr/>
        </p:nvSpPr>
        <p:spPr>
          <a:xfrm>
            <a:off x="6115050" y="1695450"/>
            <a:ext cx="504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1C8C7A"/>
                </a:solidFill>
              </a:defRPr>
            </a:pPr>
            <a:r>
              <a:rPr sz="1950" b="1">
                <a:solidFill>
                  <a:srgbClr val="1C8C7A"/>
                </a:solidFill>
              </a:rPr>
              <a:t>Contexto multivariado</a:t>
            </a:r>
          </a:p>
        </p:txBody>
      </p:sp>
      <p:sp>
        <p:nvSpPr>
          <p:cNvPr id="16" name="bullet-0">
            <a:extLst>
              <a:ext uri="{FF2B5EF4-FFF2-40B4-BE49-F238E27FC236}">
                <a16:creationId xmlns:a16="http://schemas.microsoft.com/office/drawing/2014/main" id="{766563D5-7ADC-4E5D-8EE6-4B5C81A55140}"/>
              </a:ext>
            </a:extLst>
          </p:cNvPr>
          <p:cNvSpPr>
            <a:spLocks noGrp="1"/>
          </p:cNvSpPr>
          <p:nvPr/>
        </p:nvSpPr>
        <p:spPr>
          <a:xfrm>
            <a:off x="6153150" y="2400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bullet-text-0">
            <a:extLst>
              <a:ext uri="{FF2B5EF4-FFF2-40B4-BE49-F238E27FC236}">
                <a16:creationId xmlns:a16="http://schemas.microsoft.com/office/drawing/2014/main" id="{6BDDA9C4-0FA0-4545-8711-71E7194EB39B}"/>
              </a:ext>
            </a:extLst>
          </p:cNvPr>
          <p:cNvSpPr>
            <a:spLocks noGrp="1"/>
          </p:cNvSpPr>
          <p:nvPr/>
        </p:nvSpPr>
        <p:spPr>
          <a:xfrm>
            <a:off x="6419850" y="2305050"/>
            <a:ext cx="4686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Temperaturas e umidades internas</a:t>
            </a:r>
          </a:p>
        </p:txBody>
      </p:sp>
      <p:sp>
        <p:nvSpPr>
          <p:cNvPr id="18" name="bullet-1">
            <a:extLst>
              <a:ext uri="{FF2B5EF4-FFF2-40B4-BE49-F238E27FC236}">
                <a16:creationId xmlns:a16="http://schemas.microsoft.com/office/drawing/2014/main" id="{A61FCD30-6FE2-41B0-879C-1FDA4B99BC74}"/>
              </a:ext>
            </a:extLst>
          </p:cNvPr>
          <p:cNvSpPr>
            <a:spLocks noGrp="1"/>
          </p:cNvSpPr>
          <p:nvPr/>
        </p:nvSpPr>
        <p:spPr>
          <a:xfrm>
            <a:off x="6153150" y="3028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bullet-text-1">
            <a:extLst>
              <a:ext uri="{FF2B5EF4-FFF2-40B4-BE49-F238E27FC236}">
                <a16:creationId xmlns:a16="http://schemas.microsoft.com/office/drawing/2014/main" id="{AC26C48A-0DD4-4F35-B11C-24C050BD3638}"/>
              </a:ext>
            </a:extLst>
          </p:cNvPr>
          <p:cNvSpPr>
            <a:spLocks noGrp="1"/>
          </p:cNvSpPr>
          <p:nvPr/>
        </p:nvSpPr>
        <p:spPr>
          <a:xfrm>
            <a:off x="6419850" y="2933700"/>
            <a:ext cx="4686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Iluminação e clima externo</a:t>
            </a:r>
          </a:p>
        </p:txBody>
      </p:sp>
      <p:sp>
        <p:nvSpPr>
          <p:cNvPr id="20" name="bullet-2">
            <a:extLst>
              <a:ext uri="{FF2B5EF4-FFF2-40B4-BE49-F238E27FC236}">
                <a16:creationId xmlns:a16="http://schemas.microsoft.com/office/drawing/2014/main" id="{04BB7FD3-95A6-4C97-9394-91ADCAB00A11}"/>
              </a:ext>
            </a:extLst>
          </p:cNvPr>
          <p:cNvSpPr>
            <a:spLocks noGrp="1"/>
          </p:cNvSpPr>
          <p:nvPr/>
        </p:nvSpPr>
        <p:spPr>
          <a:xfrm>
            <a:off x="6153150" y="36576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bullet-text-2">
            <a:extLst>
              <a:ext uri="{FF2B5EF4-FFF2-40B4-BE49-F238E27FC236}">
                <a16:creationId xmlns:a16="http://schemas.microsoft.com/office/drawing/2014/main" id="{3C1590A9-EE91-49D0-95D4-5153486606F2}"/>
              </a:ext>
            </a:extLst>
          </p:cNvPr>
          <p:cNvSpPr>
            <a:spLocks noGrp="1"/>
          </p:cNvSpPr>
          <p:nvPr/>
        </p:nvSpPr>
        <p:spPr>
          <a:xfrm>
            <a:off x="6419850" y="3562350"/>
            <a:ext cx="4686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Hora e dia da semana em formato cíclico</a:t>
            </a:r>
          </a:p>
        </p:txBody>
      </p:sp>
      <p:sp>
        <p:nvSpPr>
          <p:cNvPr id="22" name="bullet-3">
            <a:extLst>
              <a:ext uri="{FF2B5EF4-FFF2-40B4-BE49-F238E27FC236}">
                <a16:creationId xmlns:a16="http://schemas.microsoft.com/office/drawing/2014/main" id="{380B1CF3-9AEC-4131-A494-B5062CD1E8C4}"/>
              </a:ext>
            </a:extLst>
          </p:cNvPr>
          <p:cNvSpPr>
            <a:spLocks noGrp="1"/>
          </p:cNvSpPr>
          <p:nvPr/>
        </p:nvSpPr>
        <p:spPr>
          <a:xfrm>
            <a:off x="6153150" y="4286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bullet-text-3">
            <a:extLst>
              <a:ext uri="{FF2B5EF4-FFF2-40B4-BE49-F238E27FC236}">
                <a16:creationId xmlns:a16="http://schemas.microsoft.com/office/drawing/2014/main" id="{37A719EC-F5ED-4B5C-A354-2825D0AF8C8B}"/>
              </a:ext>
            </a:extLst>
          </p:cNvPr>
          <p:cNvSpPr>
            <a:spLocks noGrp="1"/>
          </p:cNvSpPr>
          <p:nvPr/>
        </p:nvSpPr>
        <p:spPr>
          <a:xfrm>
            <a:off x="6419850" y="4191000"/>
            <a:ext cx="4686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5222D"/>
                </a:solidFill>
              </a:defRPr>
            </a:pPr>
            <a:r>
              <a:rPr sz="1500" b="0">
                <a:solidFill>
                  <a:srgbClr val="15222D"/>
                </a:solidFill>
              </a:rPr>
              <a:t>Remoção de rv1 e rv2, variáveis aleatórias</a:t>
            </a:r>
          </a:p>
        </p:txBody>
      </p:sp>
      <p:sp>
        <p:nvSpPr>
          <p:cNvPr id="24" name="target">
            <a:extLst>
              <a:ext uri="{FF2B5EF4-FFF2-40B4-BE49-F238E27FC236}">
                <a16:creationId xmlns:a16="http://schemas.microsoft.com/office/drawing/2014/main" id="{E26BBFD5-3A2F-46BF-9C45-02CA1B371BA3}"/>
              </a:ext>
            </a:extLst>
          </p:cNvPr>
          <p:cNvSpPr>
            <a:spLocks noGrp="1"/>
          </p:cNvSpPr>
          <p:nvPr/>
        </p:nvSpPr>
        <p:spPr>
          <a:xfrm>
            <a:off x="2857500" y="5962650"/>
            <a:ext cx="647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23047"/>
                </a:solidFill>
              </a:defRPr>
            </a:pPr>
            <a:r>
              <a:rPr sz="1650" b="1">
                <a:solidFill>
                  <a:srgbClr val="123047"/>
                </a:solidFill>
              </a:rPr>
              <a:t>Alvo = consumo no instante t + 10 minutos</a:t>
            </a:r>
          </a:p>
        </p:txBody>
      </p:sp>
      <p:sp>
        <p:nvSpPr>
          <p:cNvPr id="25" name="source">
            <a:extLst>
              <a:ext uri="{FF2B5EF4-FFF2-40B4-BE49-F238E27FC236}">
                <a16:creationId xmlns:a16="http://schemas.microsoft.com/office/drawing/2014/main" id="{EC2C1E31-11AD-4C18-BF08-322BDE7F346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26" name="page">
            <a:extLst>
              <a:ext uri="{FF2B5EF4-FFF2-40B4-BE49-F238E27FC236}">
                <a16:creationId xmlns:a16="http://schemas.microsoft.com/office/drawing/2014/main" id="{82F9901B-2FE8-48F4-A819-A6161335D40E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8954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p-accent">
            <a:extLst>
              <a:ext uri="{FF2B5EF4-FFF2-40B4-BE49-F238E27FC236}">
                <a16:creationId xmlns:a16="http://schemas.microsoft.com/office/drawing/2014/main" id="{8EA68B41-D4AF-44E8-830F-2A8873F376F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B50CFF13-33EC-4576-B0D1-12228FD843E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MLP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B919D61-5C5D-4368-8E7D-2C5195A8EF39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O que é um Perceptron de Múltiplas Camadas?</a:t>
            </a:r>
          </a:p>
        </p:txBody>
      </p:sp>
      <p:sp>
        <p:nvSpPr>
          <p:cNvPr id="4" name="definition">
            <a:extLst>
              <a:ext uri="{FF2B5EF4-FFF2-40B4-BE49-F238E27FC236}">
                <a16:creationId xmlns:a16="http://schemas.microsoft.com/office/drawing/2014/main" id="{D8505BD2-938F-4044-863E-432AAEAB1BCF}"/>
              </a:ext>
            </a:extLst>
          </p:cNvPr>
          <p:cNvSpPr>
            <a:spLocks noGrp="1"/>
          </p:cNvSpPr>
          <p:nvPr/>
        </p:nvSpPr>
        <p:spPr>
          <a:xfrm>
            <a:off x="1428750" y="1314450"/>
            <a:ext cx="9334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123047"/>
                </a:solidFill>
              </a:defRPr>
            </a:pPr>
            <a:r>
              <a:rPr sz="2025" b="1">
                <a:solidFill>
                  <a:srgbClr val="123047"/>
                </a:solidFill>
              </a:rPr>
              <a:t>Uma rede neural feedforward que aprende uma função não linear entre entradas e saída.</a:t>
            </a:r>
          </a:p>
        </p:txBody>
      </p:sp>
      <p:sp>
        <p:nvSpPr>
          <p:cNvPr id="5" name="connector0">
            <a:extLst>
              <a:ext uri="{FF2B5EF4-FFF2-40B4-BE49-F238E27FC236}">
                <a16:creationId xmlns:a16="http://schemas.microsoft.com/office/drawing/2014/main" id="{477D729B-4C5C-42EF-BC9F-8F28724E04E7}"/>
              </a:ext>
            </a:extLst>
          </p:cNvPr>
          <p:cNvSpPr>
            <a:spLocks noGrp="1"/>
          </p:cNvSpPr>
          <p:nvPr/>
        </p:nvSpPr>
        <p:spPr>
          <a:xfrm>
            <a:off x="3143250" y="3333750"/>
            <a:ext cx="1333500" cy="38100"/>
          </a:xfrm>
          <a:prstGeom prst="rect">
            <a:avLst/>
          </a:prstGeom>
          <a:solidFill>
            <a:srgbClr val="D7E0E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connector1">
            <a:extLst>
              <a:ext uri="{FF2B5EF4-FFF2-40B4-BE49-F238E27FC236}">
                <a16:creationId xmlns:a16="http://schemas.microsoft.com/office/drawing/2014/main" id="{FE5BA21A-4262-43D8-96BF-426C20029457}"/>
              </a:ext>
            </a:extLst>
          </p:cNvPr>
          <p:cNvSpPr>
            <a:spLocks noGrp="1"/>
          </p:cNvSpPr>
          <p:nvPr/>
        </p:nvSpPr>
        <p:spPr>
          <a:xfrm>
            <a:off x="5667375" y="3333750"/>
            <a:ext cx="1333500" cy="38100"/>
          </a:xfrm>
          <a:prstGeom prst="rect">
            <a:avLst/>
          </a:prstGeom>
          <a:solidFill>
            <a:srgbClr val="D7E0E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connector2">
            <a:extLst>
              <a:ext uri="{FF2B5EF4-FFF2-40B4-BE49-F238E27FC236}">
                <a16:creationId xmlns:a16="http://schemas.microsoft.com/office/drawing/2014/main" id="{78056AB4-FC42-4696-AFFE-A6B950BE1C30}"/>
              </a:ext>
            </a:extLst>
          </p:cNvPr>
          <p:cNvSpPr>
            <a:spLocks noGrp="1"/>
          </p:cNvSpPr>
          <p:nvPr/>
        </p:nvSpPr>
        <p:spPr>
          <a:xfrm>
            <a:off x="8191500" y="3333750"/>
            <a:ext cx="1333500" cy="38100"/>
          </a:xfrm>
          <a:prstGeom prst="rect">
            <a:avLst/>
          </a:prstGeom>
          <a:solidFill>
            <a:srgbClr val="D7E0E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node0">
            <a:extLst>
              <a:ext uri="{FF2B5EF4-FFF2-40B4-BE49-F238E27FC236}">
                <a16:creationId xmlns:a16="http://schemas.microsoft.com/office/drawing/2014/main" id="{67A131AC-F7AB-4AFA-9828-AA6514A75FB9}"/>
              </a:ext>
            </a:extLst>
          </p:cNvPr>
          <p:cNvSpPr>
            <a:spLocks noGrp="1"/>
          </p:cNvSpPr>
          <p:nvPr/>
        </p:nvSpPr>
        <p:spPr>
          <a:xfrm>
            <a:off x="1714500" y="2667000"/>
            <a:ext cx="1428750" cy="1381125"/>
          </a:xfrm>
          <a:prstGeom prst="roundRect">
            <a:avLst>
              <a:gd name="adj" fmla="val 8276"/>
            </a:avLst>
          </a:prstGeom>
          <a:solidFill>
            <a:srgbClr val="1677A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node-text0">
            <a:extLst>
              <a:ext uri="{FF2B5EF4-FFF2-40B4-BE49-F238E27FC236}">
                <a16:creationId xmlns:a16="http://schemas.microsoft.com/office/drawing/2014/main" id="{C095E085-F767-4155-A0E5-0CD1BECB896C}"/>
              </a:ext>
            </a:extLst>
          </p:cNvPr>
          <p:cNvSpPr>
            <a:spLocks noGrp="1"/>
          </p:cNvSpPr>
          <p:nvPr/>
        </p:nvSpPr>
        <p:spPr>
          <a:xfrm>
            <a:off x="1809750" y="2876550"/>
            <a:ext cx="1238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Entradas</a:t>
            </a:r>
          </a:p>
        </p:txBody>
      </p:sp>
      <p:sp>
        <p:nvSpPr>
          <p:cNvPr id="10" name="node-sub0">
            <a:extLst>
              <a:ext uri="{FF2B5EF4-FFF2-40B4-BE49-F238E27FC236}">
                <a16:creationId xmlns:a16="http://schemas.microsoft.com/office/drawing/2014/main" id="{485CCB37-5EF3-472D-9877-E974C8706629}"/>
              </a:ext>
            </a:extLst>
          </p:cNvPr>
          <p:cNvSpPr>
            <a:spLocks noGrp="1"/>
          </p:cNvSpPr>
          <p:nvPr/>
        </p:nvSpPr>
        <p:spPr>
          <a:xfrm>
            <a:off x="1809750" y="3371850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37 variáveis</a:t>
            </a:r>
          </a:p>
        </p:txBody>
      </p:sp>
      <p:sp>
        <p:nvSpPr>
          <p:cNvPr id="11" name="node1">
            <a:extLst>
              <a:ext uri="{FF2B5EF4-FFF2-40B4-BE49-F238E27FC236}">
                <a16:creationId xmlns:a16="http://schemas.microsoft.com/office/drawing/2014/main" id="{48346041-4599-47C0-A8C7-65FB26C4FDD1}"/>
              </a:ext>
            </a:extLst>
          </p:cNvPr>
          <p:cNvSpPr>
            <a:spLocks noGrp="1"/>
          </p:cNvSpPr>
          <p:nvPr/>
        </p:nvSpPr>
        <p:spPr>
          <a:xfrm>
            <a:off x="4476750" y="2667000"/>
            <a:ext cx="1619250" cy="1381125"/>
          </a:xfrm>
          <a:prstGeom prst="roundRect">
            <a:avLst>
              <a:gd name="adj" fmla="val 8276"/>
            </a:avLst>
          </a:prstGeom>
          <a:solidFill>
            <a:srgbClr val="1C8C7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node-text1">
            <a:extLst>
              <a:ext uri="{FF2B5EF4-FFF2-40B4-BE49-F238E27FC236}">
                <a16:creationId xmlns:a16="http://schemas.microsoft.com/office/drawing/2014/main" id="{B3EBAC37-D14A-4EF9-B023-24E694F55C4E}"/>
              </a:ext>
            </a:extLst>
          </p:cNvPr>
          <p:cNvSpPr>
            <a:spLocks noGrp="1"/>
          </p:cNvSpPr>
          <p:nvPr/>
        </p:nvSpPr>
        <p:spPr>
          <a:xfrm>
            <a:off x="4572000" y="28765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Camada oculta</a:t>
            </a:r>
          </a:p>
        </p:txBody>
      </p:sp>
      <p:sp>
        <p:nvSpPr>
          <p:cNvPr id="13" name="node-sub1">
            <a:extLst>
              <a:ext uri="{FF2B5EF4-FFF2-40B4-BE49-F238E27FC236}">
                <a16:creationId xmlns:a16="http://schemas.microsoft.com/office/drawing/2014/main" id="{00A55724-E976-4F29-BECD-B8CF5E22E141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neurônios + ReLU</a:t>
            </a:r>
          </a:p>
        </p:txBody>
      </p:sp>
      <p:sp>
        <p:nvSpPr>
          <p:cNvPr id="14" name="node2">
            <a:extLst>
              <a:ext uri="{FF2B5EF4-FFF2-40B4-BE49-F238E27FC236}">
                <a16:creationId xmlns:a16="http://schemas.microsoft.com/office/drawing/2014/main" id="{44262046-62EF-4E26-8220-A5342AB51B07}"/>
              </a:ext>
            </a:extLst>
          </p:cNvPr>
          <p:cNvSpPr>
            <a:spLocks noGrp="1"/>
          </p:cNvSpPr>
          <p:nvPr/>
        </p:nvSpPr>
        <p:spPr>
          <a:xfrm>
            <a:off x="7000875" y="2667000"/>
            <a:ext cx="1619250" cy="1381125"/>
          </a:xfrm>
          <a:prstGeom prst="roundRect">
            <a:avLst>
              <a:gd name="adj" fmla="val 8276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node-text2">
            <a:extLst>
              <a:ext uri="{FF2B5EF4-FFF2-40B4-BE49-F238E27FC236}">
                <a16:creationId xmlns:a16="http://schemas.microsoft.com/office/drawing/2014/main" id="{94EB6F42-4B38-4251-A628-FDDDF941BC49}"/>
              </a:ext>
            </a:extLst>
          </p:cNvPr>
          <p:cNvSpPr>
            <a:spLocks noGrp="1"/>
          </p:cNvSpPr>
          <p:nvPr/>
        </p:nvSpPr>
        <p:spPr>
          <a:xfrm>
            <a:off x="7096125" y="28765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Camada oculta</a:t>
            </a:r>
          </a:p>
        </p:txBody>
      </p:sp>
      <p:sp>
        <p:nvSpPr>
          <p:cNvPr id="16" name="node-sub2">
            <a:extLst>
              <a:ext uri="{FF2B5EF4-FFF2-40B4-BE49-F238E27FC236}">
                <a16:creationId xmlns:a16="http://schemas.microsoft.com/office/drawing/2014/main" id="{4B6A3B18-8D56-4F9D-8686-6FD3F02369C2}"/>
              </a:ext>
            </a:extLst>
          </p:cNvPr>
          <p:cNvSpPr>
            <a:spLocks noGrp="1"/>
          </p:cNvSpPr>
          <p:nvPr/>
        </p:nvSpPr>
        <p:spPr>
          <a:xfrm>
            <a:off x="7096125" y="33718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neurônios + ReLU</a:t>
            </a:r>
          </a:p>
        </p:txBody>
      </p:sp>
      <p:sp>
        <p:nvSpPr>
          <p:cNvPr id="17" name="node3">
            <a:extLst>
              <a:ext uri="{FF2B5EF4-FFF2-40B4-BE49-F238E27FC236}">
                <a16:creationId xmlns:a16="http://schemas.microsoft.com/office/drawing/2014/main" id="{D5B9EEE8-A8B1-4FC1-8FAA-B336D121ED43}"/>
              </a:ext>
            </a:extLst>
          </p:cNvPr>
          <p:cNvSpPr>
            <a:spLocks noGrp="1"/>
          </p:cNvSpPr>
          <p:nvPr/>
        </p:nvSpPr>
        <p:spPr>
          <a:xfrm>
            <a:off x="9525000" y="2667000"/>
            <a:ext cx="1619250" cy="1381125"/>
          </a:xfrm>
          <a:prstGeom prst="roundRect">
            <a:avLst>
              <a:gd name="adj" fmla="val 8276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node-text3">
            <a:extLst>
              <a:ext uri="{FF2B5EF4-FFF2-40B4-BE49-F238E27FC236}">
                <a16:creationId xmlns:a16="http://schemas.microsoft.com/office/drawing/2014/main" id="{640F74A7-2769-41AB-B173-E7C5EFBB534E}"/>
              </a:ext>
            </a:extLst>
          </p:cNvPr>
          <p:cNvSpPr>
            <a:spLocks noGrp="1"/>
          </p:cNvSpPr>
          <p:nvPr/>
        </p:nvSpPr>
        <p:spPr>
          <a:xfrm>
            <a:off x="9620250" y="28765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Saída</a:t>
            </a:r>
          </a:p>
        </p:txBody>
      </p:sp>
      <p:sp>
        <p:nvSpPr>
          <p:cNvPr id="19" name="node-sub3">
            <a:extLst>
              <a:ext uri="{FF2B5EF4-FFF2-40B4-BE49-F238E27FC236}">
                <a16:creationId xmlns:a16="http://schemas.microsoft.com/office/drawing/2014/main" id="{1771064B-5F4C-4783-845E-52E21A76F1DF}"/>
              </a:ext>
            </a:extLst>
          </p:cNvPr>
          <p:cNvSpPr>
            <a:spLocks noGrp="1"/>
          </p:cNvSpPr>
          <p:nvPr/>
        </p:nvSpPr>
        <p:spPr>
          <a:xfrm>
            <a:off x="9620250" y="337185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1 previsão</a:t>
            </a:r>
          </a:p>
        </p:txBody>
      </p:sp>
      <p:sp>
        <p:nvSpPr>
          <p:cNvPr id="20" name="math">
            <a:extLst>
              <a:ext uri="{FF2B5EF4-FFF2-40B4-BE49-F238E27FC236}">
                <a16:creationId xmlns:a16="http://schemas.microsoft.com/office/drawing/2014/main" id="{6D3D11F9-71DB-4B07-8E67-7465EC34D8B3}"/>
              </a:ext>
            </a:extLst>
          </p:cNvPr>
          <p:cNvSpPr>
            <a:spLocks noGrp="1"/>
          </p:cNvSpPr>
          <p:nvPr/>
        </p:nvSpPr>
        <p:spPr>
          <a:xfrm>
            <a:off x="1714500" y="46863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526575"/>
                </a:solidFill>
              </a:defRPr>
            </a:pPr>
            <a:r>
              <a:rPr sz="1650" b="1">
                <a:solidFill>
                  <a:srgbClr val="526575"/>
                </a:solidFill>
              </a:rPr>
              <a:t>neurônio: soma ponderada → ativação → informação para a próxima camada</a:t>
            </a:r>
          </a:p>
        </p:txBody>
      </p:sp>
      <p:sp>
        <p:nvSpPr>
          <p:cNvPr id="21" name="learning">
            <a:extLst>
              <a:ext uri="{FF2B5EF4-FFF2-40B4-BE49-F238E27FC236}">
                <a16:creationId xmlns:a16="http://schemas.microsoft.com/office/drawing/2014/main" id="{26068BCE-90A3-48C6-B713-BFC4505CA4C7}"/>
              </a:ext>
            </a:extLst>
          </p:cNvPr>
          <p:cNvSpPr>
            <a:spLocks noGrp="1"/>
          </p:cNvSpPr>
          <p:nvPr/>
        </p:nvSpPr>
        <p:spPr>
          <a:xfrm>
            <a:off x="2000250" y="5257800"/>
            <a:ext cx="819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23047"/>
                </a:solidFill>
              </a:defRPr>
            </a:pPr>
            <a:r>
              <a:rPr sz="1800" b="1">
                <a:solidFill>
                  <a:srgbClr val="123047"/>
                </a:solidFill>
              </a:rPr>
              <a:t>Treinar = ajustar pesos para reduzir o erro entre real e previsto.</a:t>
            </a:r>
          </a:p>
        </p:txBody>
      </p:sp>
      <p:sp>
        <p:nvSpPr>
          <p:cNvPr id="22" name="source">
            <a:extLst>
              <a:ext uri="{FF2B5EF4-FFF2-40B4-BE49-F238E27FC236}">
                <a16:creationId xmlns:a16="http://schemas.microsoft.com/office/drawing/2014/main" id="{9DA67994-7981-4A89-A147-A595D0C0D62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23" name="page">
            <a:extLst>
              <a:ext uri="{FF2B5EF4-FFF2-40B4-BE49-F238E27FC236}">
                <a16:creationId xmlns:a16="http://schemas.microsoft.com/office/drawing/2014/main" id="{E6DEC918-9F41-48EE-8DA5-63EE27AA621F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5887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op-accent">
            <a:extLst>
              <a:ext uri="{FF2B5EF4-FFF2-40B4-BE49-F238E27FC236}">
                <a16:creationId xmlns:a16="http://schemas.microsoft.com/office/drawing/2014/main" id="{FA69BCA6-E5B2-449F-86C9-5A824065F5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93F7D926-E9C4-478E-B1B5-75DF3D113CC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PROTOCOLO TEMPORAL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F0B47D1-D0CA-4312-BA08-5C4815C1A7F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Treino, validação e teste — sem olhar o futuro</a:t>
            </a:r>
          </a:p>
        </p:txBody>
      </p:sp>
      <p:sp>
        <p:nvSpPr>
          <p:cNvPr id="4" name="train">
            <a:extLst>
              <a:ext uri="{FF2B5EF4-FFF2-40B4-BE49-F238E27FC236}">
                <a16:creationId xmlns:a16="http://schemas.microsoft.com/office/drawing/2014/main" id="{4DA5C73B-3644-42C1-B972-6EF22067805C}"/>
              </a:ext>
            </a:extLst>
          </p:cNvPr>
          <p:cNvSpPr>
            <a:spLocks noGrp="1"/>
          </p:cNvSpPr>
          <p:nvPr/>
        </p:nvSpPr>
        <p:spPr>
          <a:xfrm>
            <a:off x="952500" y="2324100"/>
            <a:ext cx="7200900" cy="1143000"/>
          </a:xfrm>
          <a:prstGeom prst="roundRect">
            <a:avLst>
              <a:gd name="adj" fmla="val 10000"/>
            </a:avLst>
          </a:prstGeom>
          <a:solidFill>
            <a:srgbClr val="1677A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val">
            <a:extLst>
              <a:ext uri="{FF2B5EF4-FFF2-40B4-BE49-F238E27FC236}">
                <a16:creationId xmlns:a16="http://schemas.microsoft.com/office/drawing/2014/main" id="{E6BE14BA-6CA0-4B9B-9C01-60455FFE2D6C}"/>
              </a:ext>
            </a:extLst>
          </p:cNvPr>
          <p:cNvSpPr>
            <a:spLocks noGrp="1"/>
          </p:cNvSpPr>
          <p:nvPr/>
        </p:nvSpPr>
        <p:spPr>
          <a:xfrm>
            <a:off x="8153400" y="2324100"/>
            <a:ext cx="1543050" cy="1143000"/>
          </a:xfrm>
          <a:prstGeom prst="roundRect">
            <a:avLst>
              <a:gd name="adj" fmla="val 10000"/>
            </a:avLst>
          </a:prstGeom>
          <a:solidFill>
            <a:srgbClr val="1C8C7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st">
            <a:extLst>
              <a:ext uri="{FF2B5EF4-FFF2-40B4-BE49-F238E27FC236}">
                <a16:creationId xmlns:a16="http://schemas.microsoft.com/office/drawing/2014/main" id="{6BB1E2A4-8671-41E2-A294-F972C607F199}"/>
              </a:ext>
            </a:extLst>
          </p:cNvPr>
          <p:cNvSpPr>
            <a:spLocks noGrp="1"/>
          </p:cNvSpPr>
          <p:nvPr/>
        </p:nvSpPr>
        <p:spPr>
          <a:xfrm>
            <a:off x="9696450" y="2324100"/>
            <a:ext cx="1543050" cy="1143000"/>
          </a:xfrm>
          <a:prstGeom prst="roundRect">
            <a:avLst>
              <a:gd name="adj" fmla="val 1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rain-t">
            <a:extLst>
              <a:ext uri="{FF2B5EF4-FFF2-40B4-BE49-F238E27FC236}">
                <a16:creationId xmlns:a16="http://schemas.microsoft.com/office/drawing/2014/main" id="{042B1FA9-3F74-4CE8-9713-E0ED57BB9C6F}"/>
              </a:ext>
            </a:extLst>
          </p:cNvPr>
          <p:cNvSpPr>
            <a:spLocks noGrp="1"/>
          </p:cNvSpPr>
          <p:nvPr/>
        </p:nvSpPr>
        <p:spPr>
          <a:xfrm>
            <a:off x="1143000" y="2552700"/>
            <a:ext cx="6819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TREINO</a:t>
            </a: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70% • 13.713</a:t>
            </a:r>
          </a:p>
        </p:txBody>
      </p:sp>
      <p:sp>
        <p:nvSpPr>
          <p:cNvPr id="8" name="val-t">
            <a:extLst>
              <a:ext uri="{FF2B5EF4-FFF2-40B4-BE49-F238E27FC236}">
                <a16:creationId xmlns:a16="http://schemas.microsoft.com/office/drawing/2014/main" id="{93C0ED98-A121-4214-AD5F-F6FF292ED516}"/>
              </a:ext>
            </a:extLst>
          </p:cNvPr>
          <p:cNvSpPr>
            <a:spLocks noGrp="1"/>
          </p:cNvSpPr>
          <p:nvPr/>
        </p:nvSpPr>
        <p:spPr>
          <a:xfrm>
            <a:off x="8229600" y="2533650"/>
            <a:ext cx="1390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VALIDAÇÃO</a:t>
            </a:r>
          </a:p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15% • 2.938</a:t>
            </a:r>
          </a:p>
        </p:txBody>
      </p:sp>
      <p:sp>
        <p:nvSpPr>
          <p:cNvPr id="9" name="test-t">
            <a:extLst>
              <a:ext uri="{FF2B5EF4-FFF2-40B4-BE49-F238E27FC236}">
                <a16:creationId xmlns:a16="http://schemas.microsoft.com/office/drawing/2014/main" id="{6355C050-4962-4833-8B7C-AD1BC9171AC5}"/>
              </a:ext>
            </a:extLst>
          </p:cNvPr>
          <p:cNvSpPr>
            <a:spLocks noGrp="1"/>
          </p:cNvSpPr>
          <p:nvPr/>
        </p:nvSpPr>
        <p:spPr>
          <a:xfrm>
            <a:off x="9772650" y="2533650"/>
            <a:ext cx="13906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TESTE</a:t>
            </a:r>
          </a:p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15% • 2.939</a:t>
            </a:r>
          </a:p>
        </p:txBody>
      </p:sp>
      <p:sp>
        <p:nvSpPr>
          <p:cNvPr id="10" name="bullet-0">
            <a:extLst>
              <a:ext uri="{FF2B5EF4-FFF2-40B4-BE49-F238E27FC236}">
                <a16:creationId xmlns:a16="http://schemas.microsoft.com/office/drawing/2014/main" id="{2C1F4EF6-7F5F-4902-87BB-BC477A976FD0}"/>
              </a:ext>
            </a:extLst>
          </p:cNvPr>
          <p:cNvSpPr>
            <a:spLocks noGrp="1"/>
          </p:cNvSpPr>
          <p:nvPr/>
        </p:nvSpPr>
        <p:spPr>
          <a:xfrm>
            <a:off x="1714500" y="4191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bullet-text-0">
            <a:extLst>
              <a:ext uri="{FF2B5EF4-FFF2-40B4-BE49-F238E27FC236}">
                <a16:creationId xmlns:a16="http://schemas.microsoft.com/office/drawing/2014/main" id="{21C4E5DC-AB44-44A1-BC05-7FC95984B7D7}"/>
              </a:ext>
            </a:extLst>
          </p:cNvPr>
          <p:cNvSpPr>
            <a:spLocks noGrp="1"/>
          </p:cNvSpPr>
          <p:nvPr/>
        </p:nvSpPr>
        <p:spPr>
          <a:xfrm>
            <a:off x="1981200" y="4095750"/>
            <a:ext cx="859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5222D"/>
                </a:solidFill>
              </a:defRPr>
            </a:pPr>
            <a:r>
              <a:rPr sz="1650" b="0">
                <a:solidFill>
                  <a:srgbClr val="15222D"/>
                </a:solidFill>
              </a:rPr>
              <a:t>Treino aprende os pesos</a:t>
            </a:r>
          </a:p>
        </p:txBody>
      </p:sp>
      <p:sp>
        <p:nvSpPr>
          <p:cNvPr id="12" name="bullet-1">
            <a:extLst>
              <a:ext uri="{FF2B5EF4-FFF2-40B4-BE49-F238E27FC236}">
                <a16:creationId xmlns:a16="http://schemas.microsoft.com/office/drawing/2014/main" id="{DF7F5897-F5AC-45DA-B6AC-36B54CE848FA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bullet-text-1">
            <a:extLst>
              <a:ext uri="{FF2B5EF4-FFF2-40B4-BE49-F238E27FC236}">
                <a16:creationId xmlns:a16="http://schemas.microsoft.com/office/drawing/2014/main" id="{CB8311CC-AF87-41BF-B958-0FDDCC3BEDC7}"/>
              </a:ext>
            </a:extLst>
          </p:cNvPr>
          <p:cNvSpPr>
            <a:spLocks noGrp="1"/>
          </p:cNvSpPr>
          <p:nvPr/>
        </p:nvSpPr>
        <p:spPr>
          <a:xfrm>
            <a:off x="1981200" y="4667250"/>
            <a:ext cx="859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5222D"/>
                </a:solidFill>
              </a:defRPr>
            </a:pPr>
            <a:r>
              <a:rPr sz="1650" b="0">
                <a:solidFill>
                  <a:srgbClr val="15222D"/>
                </a:solidFill>
              </a:rPr>
              <a:t>Validação escolhe arquitetura e época</a:t>
            </a:r>
          </a:p>
        </p:txBody>
      </p:sp>
      <p:sp>
        <p:nvSpPr>
          <p:cNvPr id="14" name="bullet-2">
            <a:extLst>
              <a:ext uri="{FF2B5EF4-FFF2-40B4-BE49-F238E27FC236}">
                <a16:creationId xmlns:a16="http://schemas.microsoft.com/office/drawing/2014/main" id="{7FB1014F-F554-421C-89DA-994487A9397F}"/>
              </a:ext>
            </a:extLst>
          </p:cNvPr>
          <p:cNvSpPr>
            <a:spLocks noGrp="1"/>
          </p:cNvSpPr>
          <p:nvPr/>
        </p:nvSpPr>
        <p:spPr>
          <a:xfrm>
            <a:off x="1714500" y="5334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bullet-text-2">
            <a:extLst>
              <a:ext uri="{FF2B5EF4-FFF2-40B4-BE49-F238E27FC236}">
                <a16:creationId xmlns:a16="http://schemas.microsoft.com/office/drawing/2014/main" id="{B2742D92-8F05-4AAA-8247-54A8E9FBC0B8}"/>
              </a:ext>
            </a:extLst>
          </p:cNvPr>
          <p:cNvSpPr>
            <a:spLocks noGrp="1"/>
          </p:cNvSpPr>
          <p:nvPr/>
        </p:nvSpPr>
        <p:spPr>
          <a:xfrm>
            <a:off x="1981200" y="5238750"/>
            <a:ext cx="8591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15222D"/>
                </a:solidFill>
              </a:defRPr>
            </a:pPr>
            <a:r>
              <a:rPr sz="1650" b="0">
                <a:solidFill>
                  <a:srgbClr val="15222D"/>
                </a:solidFill>
              </a:rPr>
              <a:t>Teste mede generalização uma única vez</a:t>
            </a:r>
          </a:p>
        </p:txBody>
      </p:sp>
      <p:sp>
        <p:nvSpPr>
          <p:cNvPr id="16" name="scale">
            <a:extLst>
              <a:ext uri="{FF2B5EF4-FFF2-40B4-BE49-F238E27FC236}">
                <a16:creationId xmlns:a16="http://schemas.microsoft.com/office/drawing/2014/main" id="{37827D12-899C-4215-9E5E-8019ACA696CB}"/>
              </a:ext>
            </a:extLst>
          </p:cNvPr>
          <p:cNvSpPr>
            <a:spLocks noGrp="1"/>
          </p:cNvSpPr>
          <p:nvPr/>
        </p:nvSpPr>
        <p:spPr>
          <a:xfrm>
            <a:off x="2952750" y="5905500"/>
            <a:ext cx="628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D9534F"/>
                </a:solidFill>
              </a:defRPr>
            </a:pPr>
            <a:r>
              <a:rPr sz="1575" b="1">
                <a:solidFill>
                  <a:srgbClr val="D9534F"/>
                </a:solidFill>
              </a:rPr>
              <a:t>Padronização calculada somente no treino.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E32C5EB0-12DD-49E2-8B8A-8EA541CE624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18" name="page">
            <a:extLst>
              <a:ext uri="{FF2B5EF4-FFF2-40B4-BE49-F238E27FC236}">
                <a16:creationId xmlns:a16="http://schemas.microsoft.com/office/drawing/2014/main" id="{6123B471-D1D1-4EF6-9007-6B76D416A946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349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-accent">
            <a:extLst>
              <a:ext uri="{FF2B5EF4-FFF2-40B4-BE49-F238E27FC236}">
                <a16:creationId xmlns:a16="http://schemas.microsoft.com/office/drawing/2014/main" id="{9671806E-8B3F-46CB-8068-2BED0AF2B6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DF6D36DD-D0C2-4F7E-B922-FF10AA5A92E2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EXPERIMENTOS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72E4F8D9-8F41-4833-9283-98B6476E317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Como a rede foi treinada e otimizada?</a:t>
            </a:r>
          </a:p>
        </p:txBody>
      </p:sp>
      <p:sp>
        <p:nvSpPr>
          <p:cNvPr id="4" name="step0">
            <a:extLst>
              <a:ext uri="{FF2B5EF4-FFF2-40B4-BE49-F238E27FC236}">
                <a16:creationId xmlns:a16="http://schemas.microsoft.com/office/drawing/2014/main" id="{D10ADC62-B8C6-4E71-8F5C-03DD36F3034A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1677A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num0">
            <a:extLst>
              <a:ext uri="{FF2B5EF4-FFF2-40B4-BE49-F238E27FC236}">
                <a16:creationId xmlns:a16="http://schemas.microsoft.com/office/drawing/2014/main" id="{891FAC65-A947-4D55-B5A2-2F5F0A09246F}"/>
              </a:ext>
            </a:extLst>
          </p:cNvPr>
          <p:cNvSpPr>
            <a:spLocks noGrp="1"/>
          </p:cNvSpPr>
          <p:nvPr/>
        </p:nvSpPr>
        <p:spPr>
          <a:xfrm>
            <a:off x="1257300" y="2152650"/>
            <a:ext cx="628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txt0">
            <a:extLst>
              <a:ext uri="{FF2B5EF4-FFF2-40B4-BE49-F238E27FC236}">
                <a16:creationId xmlns:a16="http://schemas.microsoft.com/office/drawing/2014/main" id="{4ECBAC01-6C7E-4A5E-97D2-32FE75D5999C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 arquiteturas</a:t>
            </a:r>
          </a:p>
        </p:txBody>
      </p:sp>
      <p:sp>
        <p:nvSpPr>
          <p:cNvPr id="7" name="arrow0">
            <a:extLst>
              <a:ext uri="{FF2B5EF4-FFF2-40B4-BE49-F238E27FC236}">
                <a16:creationId xmlns:a16="http://schemas.microsoft.com/office/drawing/2014/main" id="{2663D67B-BEFD-4C0C-A836-36821AD2C3DB}"/>
              </a:ext>
            </a:extLst>
          </p:cNvPr>
          <p:cNvSpPr>
            <a:spLocks noGrp="1"/>
          </p:cNvSpPr>
          <p:nvPr/>
        </p:nvSpPr>
        <p:spPr>
          <a:xfrm>
            <a:off x="2533650" y="259080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526575"/>
                </a:solidFill>
              </a:defRPr>
            </a:pPr>
            <a:r>
              <a:rPr sz="2100" b="1">
                <a:solidFill>
                  <a:srgbClr val="526575"/>
                </a:solidFill>
              </a:rPr>
              <a:t>→</a:t>
            </a:r>
          </a:p>
        </p:txBody>
      </p:sp>
      <p:sp>
        <p:nvSpPr>
          <p:cNvPr id="8" name="step1">
            <a:extLst>
              <a:ext uri="{FF2B5EF4-FFF2-40B4-BE49-F238E27FC236}">
                <a16:creationId xmlns:a16="http://schemas.microsoft.com/office/drawing/2014/main" id="{35ED3C9B-EB85-4055-B892-01E6178D8080}"/>
              </a:ext>
            </a:extLst>
          </p:cNvPr>
          <p:cNvSpPr>
            <a:spLocks noGrp="1"/>
          </p:cNvSpPr>
          <p:nvPr/>
        </p:nvSpPr>
        <p:spPr>
          <a:xfrm>
            <a:off x="2933700" y="2000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1C8C7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num1">
            <a:extLst>
              <a:ext uri="{FF2B5EF4-FFF2-40B4-BE49-F238E27FC236}">
                <a16:creationId xmlns:a16="http://schemas.microsoft.com/office/drawing/2014/main" id="{895A2338-FE4A-4FF2-A52C-DAF740BAE01C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628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stxt1">
            <a:extLst>
              <a:ext uri="{FF2B5EF4-FFF2-40B4-BE49-F238E27FC236}">
                <a16:creationId xmlns:a16="http://schemas.microsoft.com/office/drawing/2014/main" id="{BD01DFB2-2298-45FF-9F0E-D86D31151544}"/>
              </a:ext>
            </a:extLst>
          </p:cNvPr>
          <p:cNvSpPr>
            <a:spLocks noGrp="1"/>
          </p:cNvSpPr>
          <p:nvPr/>
        </p:nvSpPr>
        <p:spPr>
          <a:xfrm>
            <a:off x="3105150" y="29146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 sementes</a:t>
            </a:r>
          </a:p>
        </p:txBody>
      </p:sp>
      <p:sp>
        <p:nvSpPr>
          <p:cNvPr id="11" name="arrow1">
            <a:extLst>
              <a:ext uri="{FF2B5EF4-FFF2-40B4-BE49-F238E27FC236}">
                <a16:creationId xmlns:a16="http://schemas.microsoft.com/office/drawing/2014/main" id="{701981FC-B612-438F-8FC1-C391311EF90E}"/>
              </a:ext>
            </a:extLst>
          </p:cNvPr>
          <p:cNvSpPr>
            <a:spLocks noGrp="1"/>
          </p:cNvSpPr>
          <p:nvPr/>
        </p:nvSpPr>
        <p:spPr>
          <a:xfrm>
            <a:off x="4800600" y="259080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526575"/>
                </a:solidFill>
              </a:defRPr>
            </a:pPr>
            <a:r>
              <a:rPr sz="2100" b="1">
                <a:solidFill>
                  <a:srgbClr val="526575"/>
                </a:solidFill>
              </a:rPr>
              <a:t>→</a:t>
            </a:r>
          </a:p>
        </p:txBody>
      </p:sp>
      <p:sp>
        <p:nvSpPr>
          <p:cNvPr id="12" name="step2">
            <a:extLst>
              <a:ext uri="{FF2B5EF4-FFF2-40B4-BE49-F238E27FC236}">
                <a16:creationId xmlns:a16="http://schemas.microsoft.com/office/drawing/2014/main" id="{6055335F-E7E2-482A-B446-5CF9B511C7ED}"/>
              </a:ext>
            </a:extLst>
          </p:cNvPr>
          <p:cNvSpPr>
            <a:spLocks noGrp="1"/>
          </p:cNvSpPr>
          <p:nvPr/>
        </p:nvSpPr>
        <p:spPr>
          <a:xfrm>
            <a:off x="5200650" y="2000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1677A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num2">
            <a:extLst>
              <a:ext uri="{FF2B5EF4-FFF2-40B4-BE49-F238E27FC236}">
                <a16:creationId xmlns:a16="http://schemas.microsoft.com/office/drawing/2014/main" id="{0DF3A087-B53E-4D22-8DB3-908B722008B1}"/>
              </a:ext>
            </a:extLst>
          </p:cNvPr>
          <p:cNvSpPr>
            <a:spLocks noGrp="1"/>
          </p:cNvSpPr>
          <p:nvPr/>
        </p:nvSpPr>
        <p:spPr>
          <a:xfrm>
            <a:off x="5791200" y="2152650"/>
            <a:ext cx="628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stxt2">
            <a:extLst>
              <a:ext uri="{FF2B5EF4-FFF2-40B4-BE49-F238E27FC236}">
                <a16:creationId xmlns:a16="http://schemas.microsoft.com/office/drawing/2014/main" id="{8205AC67-CE05-4B4D-82BA-D0CCDEC0B614}"/>
              </a:ext>
            </a:extLst>
          </p:cNvPr>
          <p:cNvSpPr>
            <a:spLocks noGrp="1"/>
          </p:cNvSpPr>
          <p:nvPr/>
        </p:nvSpPr>
        <p:spPr>
          <a:xfrm>
            <a:off x="5372100" y="29146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até 80 épocas</a:t>
            </a:r>
          </a:p>
        </p:txBody>
      </p:sp>
      <p:sp>
        <p:nvSpPr>
          <p:cNvPr id="15" name="arrow2">
            <a:extLst>
              <a:ext uri="{FF2B5EF4-FFF2-40B4-BE49-F238E27FC236}">
                <a16:creationId xmlns:a16="http://schemas.microsoft.com/office/drawing/2014/main" id="{7041FFFC-195B-43BA-A8ED-1A88F4428BFC}"/>
              </a:ext>
            </a:extLst>
          </p:cNvPr>
          <p:cNvSpPr>
            <a:spLocks noGrp="1"/>
          </p:cNvSpPr>
          <p:nvPr/>
        </p:nvSpPr>
        <p:spPr>
          <a:xfrm>
            <a:off x="7067550" y="259080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526575"/>
                </a:solidFill>
              </a:defRPr>
            </a:pPr>
            <a:r>
              <a:rPr sz="2100" b="1">
                <a:solidFill>
                  <a:srgbClr val="526575"/>
                </a:solidFill>
              </a:rPr>
              <a:t>→</a:t>
            </a:r>
          </a:p>
        </p:txBody>
      </p:sp>
      <p:sp>
        <p:nvSpPr>
          <p:cNvPr id="16" name="step3">
            <a:extLst>
              <a:ext uri="{FF2B5EF4-FFF2-40B4-BE49-F238E27FC236}">
                <a16:creationId xmlns:a16="http://schemas.microsoft.com/office/drawing/2014/main" id="{0C873397-2065-45C4-9B99-A24BA7720E83}"/>
              </a:ext>
            </a:extLst>
          </p:cNvPr>
          <p:cNvSpPr>
            <a:spLocks noGrp="1"/>
          </p:cNvSpPr>
          <p:nvPr/>
        </p:nvSpPr>
        <p:spPr>
          <a:xfrm>
            <a:off x="7467600" y="2000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1C8C7A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num3">
            <a:extLst>
              <a:ext uri="{FF2B5EF4-FFF2-40B4-BE49-F238E27FC236}">
                <a16:creationId xmlns:a16="http://schemas.microsoft.com/office/drawing/2014/main" id="{74F7C139-EC9E-40EF-BB0F-6D454A9186D8}"/>
              </a:ext>
            </a:extLst>
          </p:cNvPr>
          <p:cNvSpPr>
            <a:spLocks noGrp="1"/>
          </p:cNvSpPr>
          <p:nvPr/>
        </p:nvSpPr>
        <p:spPr>
          <a:xfrm>
            <a:off x="8058150" y="2152650"/>
            <a:ext cx="628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stxt3">
            <a:extLst>
              <a:ext uri="{FF2B5EF4-FFF2-40B4-BE49-F238E27FC236}">
                <a16:creationId xmlns:a16="http://schemas.microsoft.com/office/drawing/2014/main" id="{0DB2EDFF-8BC8-495E-B28D-4D5653DEBC63}"/>
              </a:ext>
            </a:extLst>
          </p:cNvPr>
          <p:cNvSpPr>
            <a:spLocks noGrp="1"/>
          </p:cNvSpPr>
          <p:nvPr/>
        </p:nvSpPr>
        <p:spPr>
          <a:xfrm>
            <a:off x="7639050" y="29146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early stopping</a:t>
            </a:r>
          </a:p>
        </p:txBody>
      </p:sp>
      <p:sp>
        <p:nvSpPr>
          <p:cNvPr id="19" name="arrow3">
            <a:extLst>
              <a:ext uri="{FF2B5EF4-FFF2-40B4-BE49-F238E27FC236}">
                <a16:creationId xmlns:a16="http://schemas.microsoft.com/office/drawing/2014/main" id="{50A2A455-6279-4875-99FF-C224A30B0108}"/>
              </a:ext>
            </a:extLst>
          </p:cNvPr>
          <p:cNvSpPr>
            <a:spLocks noGrp="1"/>
          </p:cNvSpPr>
          <p:nvPr/>
        </p:nvSpPr>
        <p:spPr>
          <a:xfrm>
            <a:off x="9334500" y="259080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526575"/>
                </a:solidFill>
              </a:defRPr>
            </a:pPr>
            <a:r>
              <a:rPr sz="2100" b="1">
                <a:solidFill>
                  <a:srgbClr val="526575"/>
                </a:solidFill>
              </a:rPr>
              <a:t>→</a:t>
            </a:r>
          </a:p>
        </p:txBody>
      </p:sp>
      <p:sp>
        <p:nvSpPr>
          <p:cNvPr id="20" name="step4">
            <a:extLst>
              <a:ext uri="{FF2B5EF4-FFF2-40B4-BE49-F238E27FC236}">
                <a16:creationId xmlns:a16="http://schemas.microsoft.com/office/drawing/2014/main" id="{F882D825-2EA0-4856-B8DA-9F8DEE56D69B}"/>
              </a:ext>
            </a:extLst>
          </p:cNvPr>
          <p:cNvSpPr>
            <a:spLocks noGrp="1"/>
          </p:cNvSpPr>
          <p:nvPr/>
        </p:nvSpPr>
        <p:spPr>
          <a:xfrm>
            <a:off x="9734550" y="2000250"/>
            <a:ext cx="1809750" cy="1809750"/>
          </a:xfrm>
          <a:prstGeom prst="roundRect">
            <a:avLst>
              <a:gd name="adj" fmla="val 6316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num4">
            <a:extLst>
              <a:ext uri="{FF2B5EF4-FFF2-40B4-BE49-F238E27FC236}">
                <a16:creationId xmlns:a16="http://schemas.microsoft.com/office/drawing/2014/main" id="{4ED3AE7C-929C-49F0-B997-F2BF6E693614}"/>
              </a:ext>
            </a:extLst>
          </p:cNvPr>
          <p:cNvSpPr>
            <a:spLocks noGrp="1"/>
          </p:cNvSpPr>
          <p:nvPr/>
        </p:nvSpPr>
        <p:spPr>
          <a:xfrm>
            <a:off x="10325100" y="2152650"/>
            <a:ext cx="628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stxt4">
            <a:extLst>
              <a:ext uri="{FF2B5EF4-FFF2-40B4-BE49-F238E27FC236}">
                <a16:creationId xmlns:a16="http://schemas.microsoft.com/office/drawing/2014/main" id="{DE5807FC-ECD7-42E4-B831-D85764CF6AFA}"/>
              </a:ext>
            </a:extLst>
          </p:cNvPr>
          <p:cNvSpPr>
            <a:spLocks noGrp="1"/>
          </p:cNvSpPr>
          <p:nvPr/>
        </p:nvSpPr>
        <p:spPr>
          <a:xfrm>
            <a:off x="9906000" y="2914650"/>
            <a:ext cx="14668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menor RMSE</a:t>
            </a:r>
          </a:p>
        </p:txBody>
      </p:sp>
      <p:sp>
        <p:nvSpPr>
          <p:cNvPr id="23" name="nine">
            <a:extLst>
              <a:ext uri="{FF2B5EF4-FFF2-40B4-BE49-F238E27FC236}">
                <a16:creationId xmlns:a16="http://schemas.microsoft.com/office/drawing/2014/main" id="{CC00112B-E629-4929-B45C-04E28597A470}"/>
              </a:ext>
            </a:extLst>
          </p:cNvPr>
          <p:cNvSpPr>
            <a:spLocks noGrp="1"/>
          </p:cNvSpPr>
          <p:nvPr/>
        </p:nvSpPr>
        <p:spPr>
          <a:xfrm>
            <a:off x="3238500" y="4362450"/>
            <a:ext cx="571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625" b="1">
                <a:solidFill>
                  <a:srgbClr val="123047"/>
                </a:solidFill>
              </a:defRPr>
            </a:pPr>
            <a:r>
              <a:rPr sz="2625" b="1">
                <a:solidFill>
                  <a:srgbClr val="123047"/>
                </a:solidFill>
              </a:rPr>
              <a:t>9 rodadas independentes</a:t>
            </a:r>
          </a:p>
        </p:txBody>
      </p:sp>
      <p:sp>
        <p:nvSpPr>
          <p:cNvPr id="24" name="explain">
            <a:extLst>
              <a:ext uri="{FF2B5EF4-FFF2-40B4-BE49-F238E27FC236}">
                <a16:creationId xmlns:a16="http://schemas.microsoft.com/office/drawing/2014/main" id="{09904FE2-7718-46AE-AE21-7793197CE477}"/>
              </a:ext>
            </a:extLst>
          </p:cNvPr>
          <p:cNvSpPr>
            <a:spLocks noGrp="1"/>
          </p:cNvSpPr>
          <p:nvPr/>
        </p:nvSpPr>
        <p:spPr>
          <a:xfrm>
            <a:off x="1952625" y="5105400"/>
            <a:ext cx="828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0">
                <a:solidFill>
                  <a:srgbClr val="526575"/>
                </a:solidFill>
              </a:defRPr>
            </a:pPr>
            <a:r>
              <a:rPr sz="1650" b="0">
                <a:solidFill>
                  <a:srgbClr val="526575"/>
                </a:solidFill>
              </a:rPr>
              <a:t>Repetir sementes mede a sensibilidade à inicialização aleatória dos pesos.</a:t>
            </a:r>
          </a:p>
        </p:txBody>
      </p:sp>
      <p:sp>
        <p:nvSpPr>
          <p:cNvPr id="25" name="source">
            <a:extLst>
              <a:ext uri="{FF2B5EF4-FFF2-40B4-BE49-F238E27FC236}">
                <a16:creationId xmlns:a16="http://schemas.microsoft.com/office/drawing/2014/main" id="{ADD6DFF7-67F3-4DC0-B989-7B66821F25D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26" name="page">
            <a:extLst>
              <a:ext uri="{FF2B5EF4-FFF2-40B4-BE49-F238E27FC236}">
                <a16:creationId xmlns:a16="http://schemas.microsoft.com/office/drawing/2014/main" id="{7630E92D-1043-445C-BA57-B0160481E39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9009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-accent">
            <a:extLst>
              <a:ext uri="{FF2B5EF4-FFF2-40B4-BE49-F238E27FC236}">
                <a16:creationId xmlns:a16="http://schemas.microsoft.com/office/drawing/2014/main" id="{F496FBE0-B85F-4822-822B-DB6A28C493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94C01E96-5C95-47EA-A901-D86467E856E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DIAGNÓSTICO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2493FE06-832E-4C72-AAB9-F0F6EC58A39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Curva de aprendizado: o modelo realmente aprende?</a:t>
            </a:r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684867"/>
            <a:ext cx="7239000" cy="4021667"/>
          </a:xfrm>
          <a:prstGeom prst="rect">
            <a:avLst/>
          </a:prstGeom>
        </p:spPr>
      </p:pic>
      <p:sp>
        <p:nvSpPr>
          <p:cNvPr id="5" name="callout">
            <a:extLst>
              <a:ext uri="{FF2B5EF4-FFF2-40B4-BE49-F238E27FC236}">
                <a16:creationId xmlns:a16="http://schemas.microsoft.com/office/drawing/2014/main" id="{56AC4525-7EDA-472F-BDE0-09A49EAABAE9}"/>
              </a:ext>
            </a:extLst>
          </p:cNvPr>
          <p:cNvSpPr>
            <a:spLocks noGrp="1"/>
          </p:cNvSpPr>
          <p:nvPr/>
        </p:nvSpPr>
        <p:spPr>
          <a:xfrm>
            <a:off x="8191500" y="1676400"/>
            <a:ext cx="3143250" cy="3333750"/>
          </a:xfrm>
          <a:prstGeom prst="roundRect">
            <a:avLst>
              <a:gd name="adj" fmla="val 3636"/>
            </a:avLst>
          </a:prstGeom>
          <a:solidFill>
            <a:srgbClr val="E8F4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c1">
            <a:extLst>
              <a:ext uri="{FF2B5EF4-FFF2-40B4-BE49-F238E27FC236}">
                <a16:creationId xmlns:a16="http://schemas.microsoft.com/office/drawing/2014/main" id="{DB324AAB-E43A-4CC1-9090-1A87427E7717}"/>
              </a:ext>
            </a:extLst>
          </p:cNvPr>
          <p:cNvSpPr>
            <a:spLocks noGrp="1"/>
          </p:cNvSpPr>
          <p:nvPr/>
        </p:nvSpPr>
        <p:spPr>
          <a:xfrm>
            <a:off x="8496300" y="19431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C8C7A"/>
                </a:solidFill>
              </a:defRPr>
            </a:pPr>
            <a:r>
              <a:rPr sz="1875" b="1">
                <a:solidFill>
                  <a:srgbClr val="1C8C7A"/>
                </a:solidFill>
              </a:rPr>
              <a:t>Leitura do gráfico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8E10D268-29D3-4119-8C15-8CCB7195B7A9}"/>
              </a:ext>
            </a:extLst>
          </p:cNvPr>
          <p:cNvSpPr>
            <a:spLocks noGrp="1"/>
          </p:cNvSpPr>
          <p:nvPr/>
        </p:nvSpPr>
        <p:spPr>
          <a:xfrm>
            <a:off x="8515350" y="26479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F1047F0A-5D36-4DB5-A1BA-1F106AB279C6}"/>
              </a:ext>
            </a:extLst>
          </p:cNvPr>
          <p:cNvSpPr>
            <a:spLocks noGrp="1"/>
          </p:cNvSpPr>
          <p:nvPr/>
        </p:nvSpPr>
        <p:spPr>
          <a:xfrm>
            <a:off x="8782050" y="2552700"/>
            <a:ext cx="2247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2D"/>
                </a:solidFill>
              </a:defRPr>
            </a:pPr>
            <a:r>
              <a:rPr sz="1350" b="0">
                <a:solidFill>
                  <a:srgbClr val="15222D"/>
                </a:solidFill>
              </a:rPr>
              <a:t>Erro cai rapidamente no início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51ED0F54-DBB1-43A4-9DF3-487600E846D5}"/>
              </a:ext>
            </a:extLst>
          </p:cNvPr>
          <p:cNvSpPr>
            <a:spLocks noGrp="1"/>
          </p:cNvSpPr>
          <p:nvPr/>
        </p:nvSpPr>
        <p:spPr>
          <a:xfrm>
            <a:off x="8515350" y="33909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0379F230-3CFF-49FF-A31D-F25F22E9E15E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2247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2D"/>
                </a:solidFill>
              </a:defRPr>
            </a:pPr>
            <a:r>
              <a:rPr sz="1350" b="0">
                <a:solidFill>
                  <a:srgbClr val="15222D"/>
                </a:solidFill>
              </a:rPr>
              <a:t>Validação estabiliza perto da melhor época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C48BDB56-27AC-446B-A6D4-455583EED12D}"/>
              </a:ext>
            </a:extLst>
          </p:cNvPr>
          <p:cNvSpPr>
            <a:spLocks noGrp="1"/>
          </p:cNvSpPr>
          <p:nvPr/>
        </p:nvSpPr>
        <p:spPr>
          <a:xfrm>
            <a:off x="8515350" y="41338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519E67C4-ADA5-4255-B76C-A74060DDC1F7}"/>
              </a:ext>
            </a:extLst>
          </p:cNvPr>
          <p:cNvSpPr>
            <a:spLocks noGrp="1"/>
          </p:cNvSpPr>
          <p:nvPr/>
        </p:nvSpPr>
        <p:spPr>
          <a:xfrm>
            <a:off x="8782050" y="4038600"/>
            <a:ext cx="2247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2D"/>
                </a:solidFill>
              </a:defRPr>
            </a:pPr>
            <a:r>
              <a:rPr sz="1350" b="0">
                <a:solidFill>
                  <a:srgbClr val="15222D"/>
                </a:solidFill>
              </a:rPr>
              <a:t>Parada antecipada reduz sobreajuste</a:t>
            </a:r>
          </a:p>
        </p:txBody>
      </p:sp>
      <p:sp>
        <p:nvSpPr>
          <p:cNvPr id="13" name="best">
            <a:extLst>
              <a:ext uri="{FF2B5EF4-FFF2-40B4-BE49-F238E27FC236}">
                <a16:creationId xmlns:a16="http://schemas.microsoft.com/office/drawing/2014/main" id="{E4D5656F-91B6-4366-A4BF-93B8CD872BC8}"/>
              </a:ext>
            </a:extLst>
          </p:cNvPr>
          <p:cNvSpPr>
            <a:spLocks noGrp="1"/>
          </p:cNvSpPr>
          <p:nvPr/>
        </p:nvSpPr>
        <p:spPr>
          <a:xfrm>
            <a:off x="8496300" y="510540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23047"/>
                </a:solidFill>
              </a:defRPr>
            </a:pPr>
            <a:r>
              <a:rPr sz="1575" b="1">
                <a:solidFill>
                  <a:srgbClr val="123047"/>
                </a:solidFill>
              </a:rPr>
              <a:t>Melhor época: 28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337A15E5-00B7-4B6E-B2C4-63BAEB53E38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15" name="page">
            <a:extLst>
              <a:ext uri="{FF2B5EF4-FFF2-40B4-BE49-F238E27FC236}">
                <a16:creationId xmlns:a16="http://schemas.microsoft.com/office/drawing/2014/main" id="{9EBD8B8F-FF94-43BE-9653-70C37883BBD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16364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op-accent">
            <a:extLst>
              <a:ext uri="{FF2B5EF4-FFF2-40B4-BE49-F238E27FC236}">
                <a16:creationId xmlns:a16="http://schemas.microsoft.com/office/drawing/2014/main" id="{20440F11-B974-4D21-AF40-B1B7FD6D2C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A31E8CE1-3CCD-46C7-B87B-96331E422E2E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AVALIAÇÃO FINAL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BF62B0F-9A52-4C29-B908-85F3BCF3C2E0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Resultados no conjunto de teste</a:t>
            </a:r>
          </a:p>
        </p:txBody>
      </p:sp>
      <p:sp>
        <p:nvSpPr>
          <p:cNvPr id="4" name="mlp-title">
            <a:extLst>
              <a:ext uri="{FF2B5EF4-FFF2-40B4-BE49-F238E27FC236}">
                <a16:creationId xmlns:a16="http://schemas.microsoft.com/office/drawing/2014/main" id="{F65C61C4-DA9A-4785-9328-A156674A5C36}"/>
              </a:ext>
            </a:extLst>
          </p:cNvPr>
          <p:cNvSpPr>
            <a:spLocks noGrp="1"/>
          </p:cNvSpPr>
          <p:nvPr/>
        </p:nvSpPr>
        <p:spPr>
          <a:xfrm>
            <a:off x="857250" y="152400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677A6"/>
                </a:solidFill>
              </a:defRPr>
            </a:pPr>
            <a:r>
              <a:rPr sz="1950" b="1">
                <a:solidFill>
                  <a:srgbClr val="1677A6"/>
                </a:solidFill>
              </a:rPr>
              <a:t>MLP selecionada</a:t>
            </a:r>
          </a:p>
        </p:txBody>
      </p:sp>
      <p:sp>
        <p:nvSpPr>
          <p:cNvPr id="5" name="base-title">
            <a:extLst>
              <a:ext uri="{FF2B5EF4-FFF2-40B4-BE49-F238E27FC236}">
                <a16:creationId xmlns:a16="http://schemas.microsoft.com/office/drawing/2014/main" id="{3A3A12FB-A682-4118-B0D0-52CC20944502}"/>
              </a:ext>
            </a:extLst>
          </p:cNvPr>
          <p:cNvSpPr>
            <a:spLocks noGrp="1"/>
          </p:cNvSpPr>
          <p:nvPr/>
        </p:nvSpPr>
        <p:spPr>
          <a:xfrm>
            <a:off x="6667500" y="1524000"/>
            <a:ext cx="4667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C8C7A"/>
                </a:solidFill>
              </a:defRPr>
            </a:pPr>
            <a:r>
              <a:rPr sz="1950" b="1">
                <a:solidFill>
                  <a:srgbClr val="1C8C7A"/>
                </a:solidFill>
              </a:rPr>
              <a:t>Persistência</a:t>
            </a:r>
          </a:p>
        </p:txBody>
      </p:sp>
      <p:sp>
        <p:nvSpPr>
          <p:cNvPr id="6" name="lab0">
            <a:extLst>
              <a:ext uri="{FF2B5EF4-FFF2-40B4-BE49-F238E27FC236}">
                <a16:creationId xmlns:a16="http://schemas.microsoft.com/office/drawing/2014/main" id="{398B4C48-8794-427C-B043-94E5FB165EF4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26575"/>
                </a:solidFill>
              </a:defRPr>
            </a:pPr>
            <a:r>
              <a:rPr sz="1500" b="1">
                <a:solidFill>
                  <a:srgbClr val="526575"/>
                </a:solidFill>
              </a:rPr>
              <a:t>MAE</a:t>
            </a:r>
          </a:p>
        </p:txBody>
      </p:sp>
      <p:sp>
        <p:nvSpPr>
          <p:cNvPr id="7" name="mv0">
            <a:extLst>
              <a:ext uri="{FF2B5EF4-FFF2-40B4-BE49-F238E27FC236}">
                <a16:creationId xmlns:a16="http://schemas.microsoft.com/office/drawing/2014/main" id="{322B1895-A5FF-4462-8817-4372331B89DF}"/>
              </a:ext>
            </a:extLst>
          </p:cNvPr>
          <p:cNvSpPr>
            <a:spLocks noGrp="1"/>
          </p:cNvSpPr>
          <p:nvPr/>
        </p:nvSpPr>
        <p:spPr>
          <a:xfrm>
            <a:off x="2190750" y="21907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250" b="1">
                <a:solidFill>
                  <a:srgbClr val="1677A6"/>
                </a:solidFill>
              </a:defRPr>
            </a:pPr>
            <a:r>
              <a:rPr sz="2250" b="1">
                <a:solidFill>
                  <a:srgbClr val="1677A6"/>
                </a:solidFill>
              </a:rPr>
              <a:t>37,98 Wh</a:t>
            </a:r>
          </a:p>
        </p:txBody>
      </p:sp>
      <p:sp>
        <p:nvSpPr>
          <p:cNvPr id="8" name="blab0">
            <a:extLst>
              <a:ext uri="{FF2B5EF4-FFF2-40B4-BE49-F238E27FC236}">
                <a16:creationId xmlns:a16="http://schemas.microsoft.com/office/drawing/2014/main" id="{18398AF0-E381-4B37-B4F4-8AEBE620D0A6}"/>
              </a:ext>
            </a:extLst>
          </p:cNvPr>
          <p:cNvSpPr>
            <a:spLocks noGrp="1"/>
          </p:cNvSpPr>
          <p:nvPr/>
        </p:nvSpPr>
        <p:spPr>
          <a:xfrm>
            <a:off x="6667500" y="219075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26575"/>
                </a:solidFill>
              </a:defRPr>
            </a:pPr>
            <a:r>
              <a:rPr sz="1500" b="1">
                <a:solidFill>
                  <a:srgbClr val="526575"/>
                </a:solidFill>
              </a:rPr>
              <a:t>MAE</a:t>
            </a:r>
          </a:p>
        </p:txBody>
      </p:sp>
      <p:sp>
        <p:nvSpPr>
          <p:cNvPr id="9" name="bv0">
            <a:extLst>
              <a:ext uri="{FF2B5EF4-FFF2-40B4-BE49-F238E27FC236}">
                <a16:creationId xmlns:a16="http://schemas.microsoft.com/office/drawing/2014/main" id="{3A573161-2A0E-4CB4-ABBE-137B3BCC6860}"/>
              </a:ext>
            </a:extLst>
          </p:cNvPr>
          <p:cNvSpPr>
            <a:spLocks noGrp="1"/>
          </p:cNvSpPr>
          <p:nvPr/>
        </p:nvSpPr>
        <p:spPr>
          <a:xfrm>
            <a:off x="8001000" y="219075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250" b="1">
                <a:solidFill>
                  <a:srgbClr val="1C8C7A"/>
                </a:solidFill>
              </a:defRPr>
            </a:pPr>
            <a:r>
              <a:rPr sz="2250" b="1">
                <a:solidFill>
                  <a:srgbClr val="1C8C7A"/>
                </a:solidFill>
              </a:rPr>
              <a:t>26,72 Wh</a:t>
            </a:r>
          </a:p>
        </p:txBody>
      </p:sp>
      <p:sp>
        <p:nvSpPr>
          <p:cNvPr id="10" name="lab1">
            <a:extLst>
              <a:ext uri="{FF2B5EF4-FFF2-40B4-BE49-F238E27FC236}">
                <a16:creationId xmlns:a16="http://schemas.microsoft.com/office/drawing/2014/main" id="{AC9B75DC-E7B1-41A2-BE82-CF48F686F4B3}"/>
              </a:ext>
            </a:extLst>
          </p:cNvPr>
          <p:cNvSpPr>
            <a:spLocks noGrp="1"/>
          </p:cNvSpPr>
          <p:nvPr/>
        </p:nvSpPr>
        <p:spPr>
          <a:xfrm>
            <a:off x="857250" y="3190875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26575"/>
                </a:solidFill>
              </a:defRPr>
            </a:pPr>
            <a:r>
              <a:rPr sz="1500" b="1">
                <a:solidFill>
                  <a:srgbClr val="526575"/>
                </a:solidFill>
              </a:rPr>
              <a:t>RMSE</a:t>
            </a:r>
          </a:p>
        </p:txBody>
      </p:sp>
      <p:sp>
        <p:nvSpPr>
          <p:cNvPr id="11" name="mv1">
            <a:extLst>
              <a:ext uri="{FF2B5EF4-FFF2-40B4-BE49-F238E27FC236}">
                <a16:creationId xmlns:a16="http://schemas.microsoft.com/office/drawing/2014/main" id="{9252BE7B-6445-48A2-AF64-11FDA67B18B6}"/>
              </a:ext>
            </a:extLst>
          </p:cNvPr>
          <p:cNvSpPr>
            <a:spLocks noGrp="1"/>
          </p:cNvSpPr>
          <p:nvPr/>
        </p:nvSpPr>
        <p:spPr>
          <a:xfrm>
            <a:off x="2190750" y="319087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250" b="1">
                <a:solidFill>
                  <a:srgbClr val="1677A6"/>
                </a:solidFill>
              </a:defRPr>
            </a:pPr>
            <a:r>
              <a:rPr sz="2250" b="1">
                <a:solidFill>
                  <a:srgbClr val="1677A6"/>
                </a:solidFill>
              </a:rPr>
              <a:t>69,61 Wh</a:t>
            </a:r>
          </a:p>
        </p:txBody>
      </p:sp>
      <p:sp>
        <p:nvSpPr>
          <p:cNvPr id="12" name="blab1">
            <a:extLst>
              <a:ext uri="{FF2B5EF4-FFF2-40B4-BE49-F238E27FC236}">
                <a16:creationId xmlns:a16="http://schemas.microsoft.com/office/drawing/2014/main" id="{D5A32C94-E015-48CF-9C7D-670904B5D3CA}"/>
              </a:ext>
            </a:extLst>
          </p:cNvPr>
          <p:cNvSpPr>
            <a:spLocks noGrp="1"/>
          </p:cNvSpPr>
          <p:nvPr/>
        </p:nvSpPr>
        <p:spPr>
          <a:xfrm>
            <a:off x="6667500" y="3190875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26575"/>
                </a:solidFill>
              </a:defRPr>
            </a:pPr>
            <a:r>
              <a:rPr sz="1500" b="1">
                <a:solidFill>
                  <a:srgbClr val="526575"/>
                </a:solidFill>
              </a:rPr>
              <a:t>RMSE</a:t>
            </a:r>
          </a:p>
        </p:txBody>
      </p:sp>
      <p:sp>
        <p:nvSpPr>
          <p:cNvPr id="13" name="bv1">
            <a:extLst>
              <a:ext uri="{FF2B5EF4-FFF2-40B4-BE49-F238E27FC236}">
                <a16:creationId xmlns:a16="http://schemas.microsoft.com/office/drawing/2014/main" id="{57B26CD3-A09F-4A91-A4FF-0861C41ADEAE}"/>
              </a:ext>
            </a:extLst>
          </p:cNvPr>
          <p:cNvSpPr>
            <a:spLocks noGrp="1"/>
          </p:cNvSpPr>
          <p:nvPr/>
        </p:nvSpPr>
        <p:spPr>
          <a:xfrm>
            <a:off x="8001000" y="3190875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250" b="1">
                <a:solidFill>
                  <a:srgbClr val="1C8C7A"/>
                </a:solidFill>
              </a:defRPr>
            </a:pPr>
            <a:r>
              <a:rPr sz="2250" b="1">
                <a:solidFill>
                  <a:srgbClr val="1C8C7A"/>
                </a:solidFill>
              </a:rPr>
              <a:t>66,79 Wh</a:t>
            </a:r>
          </a:p>
        </p:txBody>
      </p:sp>
      <p:sp>
        <p:nvSpPr>
          <p:cNvPr id="14" name="lab2">
            <a:extLst>
              <a:ext uri="{FF2B5EF4-FFF2-40B4-BE49-F238E27FC236}">
                <a16:creationId xmlns:a16="http://schemas.microsoft.com/office/drawing/2014/main" id="{3202AE2E-7467-4E20-8EF0-757AFF27E97A}"/>
              </a:ext>
            </a:extLst>
          </p:cNvPr>
          <p:cNvSpPr>
            <a:spLocks noGrp="1"/>
          </p:cNvSpPr>
          <p:nvPr/>
        </p:nvSpPr>
        <p:spPr>
          <a:xfrm>
            <a:off x="857250" y="419100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26575"/>
                </a:solidFill>
              </a:defRPr>
            </a:pPr>
            <a:r>
              <a:rPr sz="1500" b="1">
                <a:solidFill>
                  <a:srgbClr val="526575"/>
                </a:solidFill>
              </a:rPr>
              <a:t>R²</a:t>
            </a:r>
          </a:p>
        </p:txBody>
      </p:sp>
      <p:sp>
        <p:nvSpPr>
          <p:cNvPr id="15" name="mv2">
            <a:extLst>
              <a:ext uri="{FF2B5EF4-FFF2-40B4-BE49-F238E27FC236}">
                <a16:creationId xmlns:a16="http://schemas.microsoft.com/office/drawing/2014/main" id="{CE589A33-ABAE-4A5C-B5FF-1003971FC47C}"/>
              </a:ext>
            </a:extLst>
          </p:cNvPr>
          <p:cNvSpPr>
            <a:spLocks noGrp="1"/>
          </p:cNvSpPr>
          <p:nvPr/>
        </p:nvSpPr>
        <p:spPr>
          <a:xfrm>
            <a:off x="2190750" y="41910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250" b="1">
                <a:solidFill>
                  <a:srgbClr val="1677A6"/>
                </a:solidFill>
              </a:defRPr>
            </a:pPr>
            <a:r>
              <a:rPr sz="2250" b="1">
                <a:solidFill>
                  <a:srgbClr val="1677A6"/>
                </a:solidFill>
              </a:rPr>
              <a:t>0,415</a:t>
            </a:r>
          </a:p>
        </p:txBody>
      </p:sp>
      <p:sp>
        <p:nvSpPr>
          <p:cNvPr id="16" name="blab2">
            <a:extLst>
              <a:ext uri="{FF2B5EF4-FFF2-40B4-BE49-F238E27FC236}">
                <a16:creationId xmlns:a16="http://schemas.microsoft.com/office/drawing/2014/main" id="{22889CC2-BC5D-4421-9491-522925C3B904}"/>
              </a:ext>
            </a:extLst>
          </p:cNvPr>
          <p:cNvSpPr>
            <a:spLocks noGrp="1"/>
          </p:cNvSpPr>
          <p:nvPr/>
        </p:nvSpPr>
        <p:spPr>
          <a:xfrm>
            <a:off x="6667500" y="4191000"/>
            <a:ext cx="123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526575"/>
                </a:solidFill>
              </a:defRPr>
            </a:pPr>
            <a:r>
              <a:rPr sz="1500" b="1">
                <a:solidFill>
                  <a:srgbClr val="526575"/>
                </a:solidFill>
              </a:rPr>
              <a:t>R²</a:t>
            </a:r>
          </a:p>
        </p:txBody>
      </p:sp>
      <p:sp>
        <p:nvSpPr>
          <p:cNvPr id="17" name="bv2">
            <a:extLst>
              <a:ext uri="{FF2B5EF4-FFF2-40B4-BE49-F238E27FC236}">
                <a16:creationId xmlns:a16="http://schemas.microsoft.com/office/drawing/2014/main" id="{D0CC8B70-274A-47FC-BE7C-05D548CE2448}"/>
              </a:ext>
            </a:extLst>
          </p:cNvPr>
          <p:cNvSpPr>
            <a:spLocks noGrp="1"/>
          </p:cNvSpPr>
          <p:nvPr/>
        </p:nvSpPr>
        <p:spPr>
          <a:xfrm>
            <a:off x="8001000" y="4191000"/>
            <a:ext cx="285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2250" b="1">
                <a:solidFill>
                  <a:srgbClr val="1C8C7A"/>
                </a:solidFill>
              </a:defRPr>
            </a:pPr>
            <a:r>
              <a:rPr sz="2250" b="1">
                <a:solidFill>
                  <a:srgbClr val="1C8C7A"/>
                </a:solidFill>
              </a:rPr>
              <a:t>0,461</a:t>
            </a:r>
          </a:p>
        </p:txBody>
      </p:sp>
      <p:sp>
        <p:nvSpPr>
          <p:cNvPr id="18" name="result">
            <a:extLst>
              <a:ext uri="{FF2B5EF4-FFF2-40B4-BE49-F238E27FC236}">
                <a16:creationId xmlns:a16="http://schemas.microsoft.com/office/drawing/2014/main" id="{90BFC739-1CD7-4AA3-895B-FC70A01F1BF3}"/>
              </a:ext>
            </a:extLst>
          </p:cNvPr>
          <p:cNvSpPr>
            <a:spLocks noGrp="1"/>
          </p:cNvSpPr>
          <p:nvPr/>
        </p:nvSpPr>
        <p:spPr>
          <a:xfrm>
            <a:off x="1619250" y="5429250"/>
            <a:ext cx="8953500" cy="590550"/>
          </a:xfrm>
          <a:prstGeom prst="roundRect">
            <a:avLst>
              <a:gd name="adj" fmla="val 19355"/>
            </a:avLst>
          </a:prstGeom>
          <a:solidFill>
            <a:srgbClr val="FDECE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sult-text">
            <a:extLst>
              <a:ext uri="{FF2B5EF4-FFF2-40B4-BE49-F238E27FC236}">
                <a16:creationId xmlns:a16="http://schemas.microsoft.com/office/drawing/2014/main" id="{92C94780-C6BC-45A3-B0EF-3B1984EB76D8}"/>
              </a:ext>
            </a:extLst>
          </p:cNvPr>
          <p:cNvSpPr>
            <a:spLocks noGrp="1"/>
          </p:cNvSpPr>
          <p:nvPr/>
        </p:nvSpPr>
        <p:spPr>
          <a:xfrm>
            <a:off x="1847850" y="5514975"/>
            <a:ext cx="8496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D9534F"/>
                </a:solidFill>
              </a:defRPr>
            </a:pPr>
            <a:r>
              <a:rPr sz="1650" b="1">
                <a:solidFill>
                  <a:srgbClr val="D9534F"/>
                </a:solidFill>
              </a:rPr>
              <a:t>Resultado honesto: a referência simples superou a MLP neste horizonte de 10 minutos.</a:t>
            </a:r>
          </a:p>
        </p:txBody>
      </p:sp>
      <p:sp>
        <p:nvSpPr>
          <p:cNvPr id="20" name="source">
            <a:extLst>
              <a:ext uri="{FF2B5EF4-FFF2-40B4-BE49-F238E27FC236}">
                <a16:creationId xmlns:a16="http://schemas.microsoft.com/office/drawing/2014/main" id="{870ABD79-3BD0-4A22-A696-DF576BA8FEC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21" name="page">
            <a:extLst>
              <a:ext uri="{FF2B5EF4-FFF2-40B4-BE49-F238E27FC236}">
                <a16:creationId xmlns:a16="http://schemas.microsoft.com/office/drawing/2014/main" id="{0A30C995-E5DF-485D-9773-0ED66203E09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2818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-accent">
            <a:extLst>
              <a:ext uri="{FF2B5EF4-FFF2-40B4-BE49-F238E27FC236}">
                <a16:creationId xmlns:a16="http://schemas.microsoft.com/office/drawing/2014/main" id="{24D1D72C-0186-4A86-A331-3620BCC451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5D51EAF3-7BF2-4D50-8F11-175C2245156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ANÁLISE CRÍTICA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1F9101A-ADCC-4365-93ED-A04C834AAB1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O que o gráfico revela?</a:t>
            </a:r>
          </a:p>
        </p:txBody>
      </p:sp>
      <p:pic>
        <p:nvPicPr>
          <p:cNvPr id="20" name="Imagem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1966480"/>
            <a:ext cx="7524750" cy="3420341"/>
          </a:xfrm>
          <a:prstGeom prst="rect">
            <a:avLst/>
          </a:prstGeom>
        </p:spPr>
      </p:pic>
      <p:sp>
        <p:nvSpPr>
          <p:cNvPr id="5" name="analysis">
            <a:extLst>
              <a:ext uri="{FF2B5EF4-FFF2-40B4-BE49-F238E27FC236}">
                <a16:creationId xmlns:a16="http://schemas.microsoft.com/office/drawing/2014/main" id="{76981642-02F5-4074-AD15-748A9200B49D}"/>
              </a:ext>
            </a:extLst>
          </p:cNvPr>
          <p:cNvSpPr>
            <a:spLocks noGrp="1"/>
          </p:cNvSpPr>
          <p:nvPr/>
        </p:nvSpPr>
        <p:spPr>
          <a:xfrm>
            <a:off x="8286750" y="1485900"/>
            <a:ext cx="3238500" cy="409575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D7E0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analysis-title">
            <a:extLst>
              <a:ext uri="{FF2B5EF4-FFF2-40B4-BE49-F238E27FC236}">
                <a16:creationId xmlns:a16="http://schemas.microsoft.com/office/drawing/2014/main" id="{B24E1774-15A5-4436-A33D-FFD78457FAD3}"/>
              </a:ext>
            </a:extLst>
          </p:cNvPr>
          <p:cNvSpPr>
            <a:spLocks noGrp="1"/>
          </p:cNvSpPr>
          <p:nvPr/>
        </p:nvSpPr>
        <p:spPr>
          <a:xfrm>
            <a:off x="8610600" y="1752600"/>
            <a:ext cx="2609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23047"/>
                </a:solidFill>
              </a:defRPr>
            </a:pPr>
            <a:r>
              <a:rPr sz="1875" b="1">
                <a:solidFill>
                  <a:srgbClr val="123047"/>
                </a:solidFill>
              </a:rPr>
              <a:t>Interpretação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F8A62EB8-8344-4948-AE27-CB63DCC20AA4}"/>
              </a:ext>
            </a:extLst>
          </p:cNvPr>
          <p:cNvSpPr>
            <a:spLocks noGrp="1"/>
          </p:cNvSpPr>
          <p:nvPr/>
        </p:nvSpPr>
        <p:spPr>
          <a:xfrm>
            <a:off x="8629650" y="23812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97B2BC9F-3E31-4E35-BFA2-760FE697434D}"/>
              </a:ext>
            </a:extLst>
          </p:cNvPr>
          <p:cNvSpPr>
            <a:spLocks noGrp="1"/>
          </p:cNvSpPr>
          <p:nvPr/>
        </p:nvSpPr>
        <p:spPr>
          <a:xfrm>
            <a:off x="8896350" y="2286000"/>
            <a:ext cx="2305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2D"/>
                </a:solidFill>
              </a:defRPr>
            </a:pPr>
            <a:r>
              <a:rPr sz="1350" b="0">
                <a:solidFill>
                  <a:srgbClr val="15222D"/>
                </a:solidFill>
              </a:rPr>
              <a:t>A rede acompanha o nível geral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5D6DD08D-51F9-4DB9-A135-FD9A36F4663A}"/>
              </a:ext>
            </a:extLst>
          </p:cNvPr>
          <p:cNvSpPr>
            <a:spLocks noGrp="1"/>
          </p:cNvSpPr>
          <p:nvPr/>
        </p:nvSpPr>
        <p:spPr>
          <a:xfrm>
            <a:off x="8629650" y="30670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84E56A42-A3DB-45A4-BD5D-E6596FE17F6F}"/>
              </a:ext>
            </a:extLst>
          </p:cNvPr>
          <p:cNvSpPr>
            <a:spLocks noGrp="1"/>
          </p:cNvSpPr>
          <p:nvPr/>
        </p:nvSpPr>
        <p:spPr>
          <a:xfrm>
            <a:off x="8896350" y="2971800"/>
            <a:ext cx="2305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2D"/>
                </a:solidFill>
              </a:defRPr>
            </a:pPr>
            <a:r>
              <a:rPr sz="1350" b="0">
                <a:solidFill>
                  <a:srgbClr val="15222D"/>
                </a:solidFill>
              </a:rPr>
              <a:t>Picos raros são suavizados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CE6C8563-11E5-401C-A3CA-BA614E347CEC}"/>
              </a:ext>
            </a:extLst>
          </p:cNvPr>
          <p:cNvSpPr>
            <a:spLocks noGrp="1"/>
          </p:cNvSpPr>
          <p:nvPr/>
        </p:nvSpPr>
        <p:spPr>
          <a:xfrm>
            <a:off x="8629650" y="37528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C59D98AA-6827-40B1-A914-1B641DF8A943}"/>
              </a:ext>
            </a:extLst>
          </p:cNvPr>
          <p:cNvSpPr>
            <a:spLocks noGrp="1"/>
          </p:cNvSpPr>
          <p:nvPr/>
        </p:nvSpPr>
        <p:spPr>
          <a:xfrm>
            <a:off x="8896350" y="3657600"/>
            <a:ext cx="2305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2D"/>
                </a:solidFill>
              </a:defRPr>
            </a:pPr>
            <a:r>
              <a:rPr sz="1350" b="0">
                <a:solidFill>
                  <a:srgbClr val="15222D"/>
                </a:solidFill>
              </a:rPr>
              <a:t>Há mudança de comportamento no trecho de teste</a:t>
            </a:r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24597442-5084-46AD-B7D6-627C2947AA74}"/>
              </a:ext>
            </a:extLst>
          </p:cNvPr>
          <p:cNvSpPr>
            <a:spLocks noGrp="1"/>
          </p:cNvSpPr>
          <p:nvPr/>
        </p:nvSpPr>
        <p:spPr>
          <a:xfrm>
            <a:off x="8629650" y="4438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bullet-text-3">
            <a:extLst>
              <a:ext uri="{FF2B5EF4-FFF2-40B4-BE49-F238E27FC236}">
                <a16:creationId xmlns:a16="http://schemas.microsoft.com/office/drawing/2014/main" id="{70DAC2C4-F80B-421C-B8A3-380D3E78F330}"/>
              </a:ext>
            </a:extLst>
          </p:cNvPr>
          <p:cNvSpPr>
            <a:spLocks noGrp="1"/>
          </p:cNvSpPr>
          <p:nvPr/>
        </p:nvSpPr>
        <p:spPr>
          <a:xfrm>
            <a:off x="8896350" y="4343400"/>
            <a:ext cx="2305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5222D"/>
                </a:solidFill>
              </a:defRPr>
            </a:pPr>
            <a:r>
              <a:rPr sz="1350" b="0">
                <a:solidFill>
                  <a:srgbClr val="15222D"/>
                </a:solidFill>
              </a:rPr>
              <a:t>Complexidade não garante superioridade</a:t>
            </a:r>
          </a:p>
        </p:txBody>
      </p:sp>
      <p:sp>
        <p:nvSpPr>
          <p:cNvPr id="15" name="source">
            <a:extLst>
              <a:ext uri="{FF2B5EF4-FFF2-40B4-BE49-F238E27FC236}">
                <a16:creationId xmlns:a16="http://schemas.microsoft.com/office/drawing/2014/main" id="{A9D88C18-684C-4D4F-B981-5EDA0E12034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executado com energydata_complete.csv</a:t>
            </a:r>
          </a:p>
        </p:txBody>
      </p:sp>
      <p:sp>
        <p:nvSpPr>
          <p:cNvPr id="16" name="page">
            <a:extLst>
              <a:ext uri="{FF2B5EF4-FFF2-40B4-BE49-F238E27FC236}">
                <a16:creationId xmlns:a16="http://schemas.microsoft.com/office/drawing/2014/main" id="{8DCD4B72-569B-4332-9F70-2056EB75207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930691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op-accent">
            <a:extLst>
              <a:ext uri="{FF2B5EF4-FFF2-40B4-BE49-F238E27FC236}">
                <a16:creationId xmlns:a16="http://schemas.microsoft.com/office/drawing/2014/main" id="{CC441628-1C04-42A6-B658-ECE63A5325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D7B78D98-5827-475B-91A8-CBA92D52040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677A6"/>
                </a:solidFill>
              </a:defRPr>
            </a:pPr>
            <a:r>
              <a:rPr sz="1050" b="1">
                <a:solidFill>
                  <a:srgbClr val="1677A6"/>
                </a:solidFill>
              </a:rPr>
              <a:t>FECHAMENTO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523A62E-09F3-41BC-843B-5E8F4F4B469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123047"/>
                </a:solidFill>
              </a:defRPr>
            </a:pPr>
            <a:r>
              <a:rPr sz="2850" b="1">
                <a:solidFill>
                  <a:srgbClr val="123047"/>
                </a:solidFill>
              </a:rPr>
              <a:t>Conclusões e próximos passos</a:t>
            </a:r>
          </a:p>
        </p:txBody>
      </p:sp>
      <p:sp>
        <p:nvSpPr>
          <p:cNvPr id="4" name="conclusion">
            <a:extLst>
              <a:ext uri="{FF2B5EF4-FFF2-40B4-BE49-F238E27FC236}">
                <a16:creationId xmlns:a16="http://schemas.microsoft.com/office/drawing/2014/main" id="{D4AD7F61-9C55-4714-90FC-6EC82E473204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6858000" cy="4095750"/>
          </a:xfrm>
          <a:prstGeom prst="roundRect">
            <a:avLst>
              <a:gd name="adj" fmla="val 2791"/>
            </a:avLst>
          </a:prstGeom>
          <a:solidFill>
            <a:srgbClr val="12304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conc-title">
            <a:extLst>
              <a:ext uri="{FF2B5EF4-FFF2-40B4-BE49-F238E27FC236}">
                <a16:creationId xmlns:a16="http://schemas.microsoft.com/office/drawing/2014/main" id="{118C6DA4-ED43-461F-AC6C-44FE69250C80}"/>
              </a:ext>
            </a:extLst>
          </p:cNvPr>
          <p:cNvSpPr>
            <a:spLocks noGrp="1"/>
          </p:cNvSpPr>
          <p:nvPr/>
        </p:nvSpPr>
        <p:spPr>
          <a:xfrm>
            <a:off x="971550" y="1657350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75" b="1">
                <a:solidFill>
                  <a:srgbClr val="45B8C4"/>
                </a:solidFill>
              </a:defRPr>
            </a:pPr>
            <a:r>
              <a:rPr sz="2175" b="1">
                <a:solidFill>
                  <a:srgbClr val="45B8C4"/>
                </a:solidFill>
              </a:rPr>
              <a:t>O que aprendemos</a:t>
            </a:r>
          </a:p>
        </p:txBody>
      </p:sp>
      <p:sp>
        <p:nvSpPr>
          <p:cNvPr id="6" name="bullet-0">
            <a:extLst>
              <a:ext uri="{FF2B5EF4-FFF2-40B4-BE49-F238E27FC236}">
                <a16:creationId xmlns:a16="http://schemas.microsoft.com/office/drawing/2014/main" id="{99F9FFDA-6DC1-4C48-9FC2-0ABD9C42F48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bullet-text-0">
            <a:extLst>
              <a:ext uri="{FF2B5EF4-FFF2-40B4-BE49-F238E27FC236}">
                <a16:creationId xmlns:a16="http://schemas.microsoft.com/office/drawing/2014/main" id="{3A0BB9CD-732B-41A6-B283-98BBA719C957}"/>
              </a:ext>
            </a:extLst>
          </p:cNvPr>
          <p:cNvSpPr>
            <a:spLocks noGrp="1"/>
          </p:cNvSpPr>
          <p:nvPr/>
        </p:nvSpPr>
        <p:spPr>
          <a:xfrm>
            <a:off x="1276350" y="2305050"/>
            <a:ext cx="563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MLP aprende relações não lineares entre sensores</a:t>
            </a:r>
          </a:p>
        </p:txBody>
      </p:sp>
      <p:sp>
        <p:nvSpPr>
          <p:cNvPr id="8" name="bullet-1">
            <a:extLst>
              <a:ext uri="{FF2B5EF4-FFF2-40B4-BE49-F238E27FC236}">
                <a16:creationId xmlns:a16="http://schemas.microsoft.com/office/drawing/2014/main" id="{6D8364A9-A9A7-4A56-9392-8EBFC8B1D04D}"/>
              </a:ext>
            </a:extLst>
          </p:cNvPr>
          <p:cNvSpPr>
            <a:spLocks noGrp="1"/>
          </p:cNvSpPr>
          <p:nvPr/>
        </p:nvSpPr>
        <p:spPr>
          <a:xfrm>
            <a:off x="1009650" y="3048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bullet-text-1">
            <a:extLst>
              <a:ext uri="{FF2B5EF4-FFF2-40B4-BE49-F238E27FC236}">
                <a16:creationId xmlns:a16="http://schemas.microsoft.com/office/drawing/2014/main" id="{84A2F2EE-8D4A-40E3-A95E-9327124D1A14}"/>
              </a:ext>
            </a:extLst>
          </p:cNvPr>
          <p:cNvSpPr>
            <a:spLocks noGrp="1"/>
          </p:cNvSpPr>
          <p:nvPr/>
        </p:nvSpPr>
        <p:spPr>
          <a:xfrm>
            <a:off x="1276350" y="2952750"/>
            <a:ext cx="563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Memória temporal precisa ser criada por defasagens</a:t>
            </a:r>
          </a:p>
        </p:txBody>
      </p:sp>
      <p:sp>
        <p:nvSpPr>
          <p:cNvPr id="10" name="bullet-2">
            <a:extLst>
              <a:ext uri="{FF2B5EF4-FFF2-40B4-BE49-F238E27FC236}">
                <a16:creationId xmlns:a16="http://schemas.microsoft.com/office/drawing/2014/main" id="{D26251A3-90BE-4FD9-813D-4B9FB009F07E}"/>
              </a:ext>
            </a:extLst>
          </p:cNvPr>
          <p:cNvSpPr>
            <a:spLocks noGrp="1"/>
          </p:cNvSpPr>
          <p:nvPr/>
        </p:nvSpPr>
        <p:spPr>
          <a:xfrm>
            <a:off x="1009650" y="3695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bullet-text-2">
            <a:extLst>
              <a:ext uri="{FF2B5EF4-FFF2-40B4-BE49-F238E27FC236}">
                <a16:creationId xmlns:a16="http://schemas.microsoft.com/office/drawing/2014/main" id="{CDA3690B-B66F-42CA-860E-7D26A09F0B4C}"/>
              </a:ext>
            </a:extLst>
          </p:cNvPr>
          <p:cNvSpPr>
            <a:spLocks noGrp="1"/>
          </p:cNvSpPr>
          <p:nvPr/>
        </p:nvSpPr>
        <p:spPr>
          <a:xfrm>
            <a:off x="1276350" y="3600450"/>
            <a:ext cx="563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Divisão cronológica evita uma avaliação otimista</a:t>
            </a:r>
          </a:p>
        </p:txBody>
      </p:sp>
      <p:sp>
        <p:nvSpPr>
          <p:cNvPr id="12" name="bullet-3">
            <a:extLst>
              <a:ext uri="{FF2B5EF4-FFF2-40B4-BE49-F238E27FC236}">
                <a16:creationId xmlns:a16="http://schemas.microsoft.com/office/drawing/2014/main" id="{F4C3238D-60E8-4237-BE76-74A75FEABAD2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bullet-text-3">
            <a:extLst>
              <a:ext uri="{FF2B5EF4-FFF2-40B4-BE49-F238E27FC236}">
                <a16:creationId xmlns:a16="http://schemas.microsoft.com/office/drawing/2014/main" id="{35C72034-244B-4EC3-BDF5-9B4A216D7B64}"/>
              </a:ext>
            </a:extLst>
          </p:cNvPr>
          <p:cNvSpPr>
            <a:spLocks noGrp="1"/>
          </p:cNvSpPr>
          <p:nvPr/>
        </p:nvSpPr>
        <p:spPr>
          <a:xfrm>
            <a:off x="1276350" y="4248150"/>
            <a:ext cx="563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A persistência venceu no horizonte de 10 minutos</a:t>
            </a:r>
          </a:p>
        </p:txBody>
      </p:sp>
      <p:sp>
        <p:nvSpPr>
          <p:cNvPr id="14" name="next">
            <a:extLst>
              <a:ext uri="{FF2B5EF4-FFF2-40B4-BE49-F238E27FC236}">
                <a16:creationId xmlns:a16="http://schemas.microsoft.com/office/drawing/2014/main" id="{5D8A7D30-7EC2-4CC0-A7C4-4FAB82962D3F}"/>
              </a:ext>
            </a:extLst>
          </p:cNvPr>
          <p:cNvSpPr>
            <a:spLocks noGrp="1"/>
          </p:cNvSpPr>
          <p:nvPr/>
        </p:nvSpPr>
        <p:spPr>
          <a:xfrm>
            <a:off x="7848600" y="1371600"/>
            <a:ext cx="3733800" cy="4095750"/>
          </a:xfrm>
          <a:prstGeom prst="roundRect">
            <a:avLst>
              <a:gd name="adj" fmla="val 3061"/>
            </a:avLst>
          </a:prstGeom>
          <a:solidFill>
            <a:srgbClr val="E8F4F6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next-title">
            <a:extLst>
              <a:ext uri="{FF2B5EF4-FFF2-40B4-BE49-F238E27FC236}">
                <a16:creationId xmlns:a16="http://schemas.microsoft.com/office/drawing/2014/main" id="{1DE675E3-5654-4A3A-A3C5-41490E7BED30}"/>
              </a:ext>
            </a:extLst>
          </p:cNvPr>
          <p:cNvSpPr>
            <a:spLocks noGrp="1"/>
          </p:cNvSpPr>
          <p:nvPr/>
        </p:nvSpPr>
        <p:spPr>
          <a:xfrm>
            <a:off x="8172450" y="1657350"/>
            <a:ext cx="3086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C8C7A"/>
                </a:solidFill>
              </a:defRPr>
            </a:pPr>
            <a:r>
              <a:rPr sz="2025" b="1">
                <a:solidFill>
                  <a:srgbClr val="1C8C7A"/>
                </a:solidFill>
              </a:rPr>
              <a:t>Próximos passos</a:t>
            </a:r>
          </a:p>
        </p:txBody>
      </p:sp>
      <p:sp>
        <p:nvSpPr>
          <p:cNvPr id="16" name="bullet-0">
            <a:extLst>
              <a:ext uri="{FF2B5EF4-FFF2-40B4-BE49-F238E27FC236}">
                <a16:creationId xmlns:a16="http://schemas.microsoft.com/office/drawing/2014/main" id="{F5E3AED7-957C-45E1-838D-825059433C2C}"/>
              </a:ext>
            </a:extLst>
          </p:cNvPr>
          <p:cNvSpPr>
            <a:spLocks noGrp="1"/>
          </p:cNvSpPr>
          <p:nvPr/>
        </p:nvSpPr>
        <p:spPr>
          <a:xfrm>
            <a:off x="8191500" y="2400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bullet-text-0">
            <a:extLst>
              <a:ext uri="{FF2B5EF4-FFF2-40B4-BE49-F238E27FC236}">
                <a16:creationId xmlns:a16="http://schemas.microsoft.com/office/drawing/2014/main" id="{AFB9D78D-E552-4A01-9708-0902C7A111BA}"/>
              </a:ext>
            </a:extLst>
          </p:cNvPr>
          <p:cNvSpPr>
            <a:spLocks noGrp="1"/>
          </p:cNvSpPr>
          <p:nvPr/>
        </p:nvSpPr>
        <p:spPr>
          <a:xfrm>
            <a:off x="8458200" y="23050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2D"/>
                </a:solidFill>
              </a:defRPr>
            </a:pPr>
            <a:r>
              <a:rPr sz="1425" b="0">
                <a:solidFill>
                  <a:srgbClr val="15222D"/>
                </a:solidFill>
              </a:rPr>
              <a:t>Validação walk-forward</a:t>
            </a:r>
          </a:p>
        </p:txBody>
      </p:sp>
      <p:sp>
        <p:nvSpPr>
          <p:cNvPr id="18" name="bullet-1">
            <a:extLst>
              <a:ext uri="{FF2B5EF4-FFF2-40B4-BE49-F238E27FC236}">
                <a16:creationId xmlns:a16="http://schemas.microsoft.com/office/drawing/2014/main" id="{67AB9DE8-1515-4492-BAA1-EFAC57CA69F1}"/>
              </a:ext>
            </a:extLst>
          </p:cNvPr>
          <p:cNvSpPr>
            <a:spLocks noGrp="1"/>
          </p:cNvSpPr>
          <p:nvPr/>
        </p:nvSpPr>
        <p:spPr>
          <a:xfrm>
            <a:off x="8191500" y="30480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bullet-text-1">
            <a:extLst>
              <a:ext uri="{FF2B5EF4-FFF2-40B4-BE49-F238E27FC236}">
                <a16:creationId xmlns:a16="http://schemas.microsoft.com/office/drawing/2014/main" id="{093C99F3-3E5A-4677-A966-2C8366D89A9C}"/>
              </a:ext>
            </a:extLst>
          </p:cNvPr>
          <p:cNvSpPr>
            <a:spLocks noGrp="1"/>
          </p:cNvSpPr>
          <p:nvPr/>
        </p:nvSpPr>
        <p:spPr>
          <a:xfrm>
            <a:off x="8458200" y="29527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2D"/>
                </a:solidFill>
              </a:defRPr>
            </a:pPr>
            <a:r>
              <a:rPr sz="1425" b="0">
                <a:solidFill>
                  <a:srgbClr val="15222D"/>
                </a:solidFill>
              </a:rPr>
              <a:t>Prever 30 ou 60 minutos</a:t>
            </a:r>
          </a:p>
        </p:txBody>
      </p:sp>
      <p:sp>
        <p:nvSpPr>
          <p:cNvPr id="20" name="bullet-2">
            <a:extLst>
              <a:ext uri="{FF2B5EF4-FFF2-40B4-BE49-F238E27FC236}">
                <a16:creationId xmlns:a16="http://schemas.microsoft.com/office/drawing/2014/main" id="{BA1553BE-308A-4968-88A6-D41861E8142D}"/>
              </a:ext>
            </a:extLst>
          </p:cNvPr>
          <p:cNvSpPr>
            <a:spLocks noGrp="1"/>
          </p:cNvSpPr>
          <p:nvPr/>
        </p:nvSpPr>
        <p:spPr>
          <a:xfrm>
            <a:off x="8191500" y="36957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5B8C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bullet-text-2">
            <a:extLst>
              <a:ext uri="{FF2B5EF4-FFF2-40B4-BE49-F238E27FC236}">
                <a16:creationId xmlns:a16="http://schemas.microsoft.com/office/drawing/2014/main" id="{955528CB-36BD-4B22-9B67-D08E77D679A5}"/>
              </a:ext>
            </a:extLst>
          </p:cNvPr>
          <p:cNvSpPr>
            <a:spLocks noGrp="1"/>
          </p:cNvSpPr>
          <p:nvPr/>
        </p:nvSpPr>
        <p:spPr>
          <a:xfrm>
            <a:off x="8458200" y="36004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2D"/>
                </a:solidFill>
              </a:defRPr>
            </a:pPr>
            <a:r>
              <a:rPr sz="1425" b="0">
                <a:solidFill>
                  <a:srgbClr val="15222D"/>
                </a:solidFill>
              </a:rPr>
              <a:t>Comparar LSTM e boosting</a:t>
            </a:r>
          </a:p>
        </p:txBody>
      </p:sp>
      <p:sp>
        <p:nvSpPr>
          <p:cNvPr id="22" name="bullet-3">
            <a:extLst>
              <a:ext uri="{FF2B5EF4-FFF2-40B4-BE49-F238E27FC236}">
                <a16:creationId xmlns:a16="http://schemas.microsoft.com/office/drawing/2014/main" id="{EE084192-7377-4FDB-BBB5-02A2DA0856B5}"/>
              </a:ext>
            </a:extLst>
          </p:cNvPr>
          <p:cNvSpPr>
            <a:spLocks noGrp="1"/>
          </p:cNvSpPr>
          <p:nvPr/>
        </p:nvSpPr>
        <p:spPr>
          <a:xfrm>
            <a:off x="8191500" y="43434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bullet-text-3">
            <a:extLst>
              <a:ext uri="{FF2B5EF4-FFF2-40B4-BE49-F238E27FC236}">
                <a16:creationId xmlns:a16="http://schemas.microsoft.com/office/drawing/2014/main" id="{E59B6DD2-8BF1-4F30-8C74-A77F00223514}"/>
              </a:ext>
            </a:extLst>
          </p:cNvPr>
          <p:cNvSpPr>
            <a:spLocks noGrp="1"/>
          </p:cNvSpPr>
          <p:nvPr/>
        </p:nvSpPr>
        <p:spPr>
          <a:xfrm>
            <a:off x="8458200" y="4248150"/>
            <a:ext cx="2686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15222D"/>
                </a:solidFill>
              </a:defRPr>
            </a:pPr>
            <a:r>
              <a:rPr sz="1425" b="0">
                <a:solidFill>
                  <a:srgbClr val="15222D"/>
                </a:solidFill>
              </a:rPr>
              <a:t>Mais residências e estações</a:t>
            </a:r>
          </a:p>
        </p:txBody>
      </p:sp>
      <p:sp>
        <p:nvSpPr>
          <p:cNvPr id="25" name="source">
            <a:extLst>
              <a:ext uri="{FF2B5EF4-FFF2-40B4-BE49-F238E27FC236}">
                <a16:creationId xmlns:a16="http://schemas.microsoft.com/office/drawing/2014/main" id="{88EB2A0D-8A6A-4506-84C6-BA1BEDEB70F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90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526575"/>
                </a:solidFill>
              </a:defRPr>
            </a:pPr>
            <a:r>
              <a:rPr sz="825" b="0">
                <a:solidFill>
                  <a:srgbClr val="526575"/>
                </a:solidFill>
              </a:rPr>
              <a:t>Projeto acadêmico — reprodução adaptada e resultados reproduzíveis</a:t>
            </a:r>
          </a:p>
        </p:txBody>
      </p:sp>
      <p:sp>
        <p:nvSpPr>
          <p:cNvPr id="26" name="page">
            <a:extLst>
              <a:ext uri="{FF2B5EF4-FFF2-40B4-BE49-F238E27FC236}">
                <a16:creationId xmlns:a16="http://schemas.microsoft.com/office/drawing/2014/main" id="{9A81EA2B-6EC6-4AD5-A449-2F4969A98E6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 b="1">
                <a:solidFill>
                  <a:srgbClr val="1677A6"/>
                </a:solidFill>
              </a:defRPr>
            </a:pPr>
            <a:r>
              <a:rPr sz="975" b="1">
                <a:solidFill>
                  <a:srgbClr val="1677A6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379210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1584</Words>
  <Application>Microsoft Office PowerPoint</Application>
  <DocSecurity>0</DocSecurity>
  <PresentationFormat>Widescreen</PresentationFormat>
  <Paragraphs>201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Rafael Martins</cp:lastModifiedBy>
  <cp:revision>1</cp:revision>
  <dcterms:created xsi:type="dcterms:W3CDTF">2026-07-02T04:54:17Z</dcterms:created>
  <dcterms:modified xsi:type="dcterms:W3CDTF">2026-07-02T13:59:15Z</dcterms:modified>
</cp:coreProperties>
</file>